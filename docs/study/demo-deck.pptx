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0a5ca55-ce5e-7261-222d-abb49c634e46}">
          <p14:sldIdLst>
            <p14:sldId id="256"/>
            <p14:sldId id="257"/>
            <p14:sldId id="258"/>
            <p14:sldId id="259"/>
          </p14:sldIdLst>
        </p14:section>
        <p14:section name="Live demo" id="{da09c4ae-6101-ec03-01eb-13bebd2ea181}">
          <p14:sldIdLst>
            <p14:sldId id="260"/>
            <p14:sldId id="261"/>
            <p14:sldId id="262"/>
            <p14:sldId id="263"/>
          </p14:sldIdLst>
        </p14:section>
        <p14:section name="Under the hood" id="{d3735a9f-cad0-87d3-06ae-468992211c31}">
          <p14:sldIdLst>
            <p14:sldId id="264"/>
            <p14:sldId id="265"/>
            <p14:sldId id="266"/>
          </p14:sldIdLst>
        </p14:section>
        <p14:section name="Wrap-up" id="{1e3be10b-5371-1ba5-4bf0-0e728fa2a014}">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a cloud inventory and order app for small shops and distributors. Buy from vendors, receive, know exactly what is where, sell, ship, get paid, see profit. Backend is SELISE Blocks only: no custom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to remember: 7 roles, 60 schemas (44 tables, 16 embedded types), 21 reports, no custom backend. The sidebar has five sections plus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the demo follows. Top row is procure-to-stock, bottom row is order-to-cash. Stock never changes by typing a number: every step that moves goods writes to the ledger. The loop closes through Reordering.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come from src/features/team/roles.ts. Only Admin, Manager and Purchasing see cost and margin (COST_VIEWERS). On top of the role, the Admin can set per person: PO approval limit, allowed locations, and own-customers-only for reps.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Admin so every screen is open. Backup if something breaks: Inventory → Adjustments, make a Damaged adjustment, then show it in Reports → Movement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Zoho calls 'reserved' committed. Picked units have already left on hand. In-transit stock on transfers counts as on order at the receiving location. All of this is one pure function, computeQuantities, shared with the reorder check so the screen and the list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order change is one compare-and-set save with a revision number, and it is written to the order's History tab. A negative line is a return; Restock returns puts it back on hand. Payment status also has 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 saved by someone whose own limit covers it is approved on save. Raising an approved PO's total sends it back to Unapproved. Receiving waits for approval. If the vendor price changed, the app offers Update price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has no multi-record transactions. A filtered update is atomic on one record, so each balance row carries a version (compare and set, spec 0026). Each movement has a unique posting key so a retry never counts twice. If the browser closes midway, a repair step settles pending movements after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collections and 16 embedded value types. An order and its lines save in one write, which is how we avoid needing transactions for documents. Full diagrams are in docs/study/schema-relationships.md.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role matrix in spec 0003 and roles.ts. Everyone can view the screens their role opens and run reports. Read only and Production change nothing. Today these rights are checked in the browser; server enforcement waits on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anyone asks. The first two are the security story: identity, sessions and MFA are enforced by Blocks on the server; data rights are not yet. The exit gate is documented in spec 0003.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answers in docs/study/presentation-cheatsheet.md: average cost, landed cost, credit limits, multi-company, fixed assets, report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ideas: one ledger for every stock change; safe posting without transactions; two statuses per order.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Inventory app · demo walkthrough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Inventory, end to end</a:t>
            </a: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A Zoho Inventory-style app for small businesses, built on SELISE Blocks</a:t>
            </a:r>
            <a:endParaRPr lang="en-US" sz="2000" dirty="0"/>
          </a:p>
        </p:txBody>
      </p:sp>
      <p:sp>
        <p:nvSpPr>
          <p:cNvPr id="4" name="Shape 2"/>
          <p:cNvSpPr/>
          <p:nvPr/>
        </p:nvSpPr>
        <p:spPr>
          <a:xfrm>
            <a:off x="731520" y="5074920"/>
            <a:ext cx="685800" cy="68580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02970" y="5246370"/>
            <a:ext cx="342900" cy="342900"/>
          </a:xfrm>
          <a:prstGeom prst="rect">
            <a:avLst/>
          </a:prstGeom>
        </p:spPr>
      </p:pic>
      <p:sp>
        <p:nvSpPr>
          <p:cNvPr id="6" name="Text 3"/>
          <p:cNvSpPr txBox="1"/>
          <p:nvPr/>
        </p:nvSpPr>
        <p:spPr>
          <a:xfrm>
            <a:off x="457200" y="5833872"/>
            <a:ext cx="1234440" cy="320040"/>
          </a:xfrm>
          <a:prstGeom prst="rect">
            <a:avLst/>
          </a:prstGeom>
          <a:noFill/>
          <a:ln/>
        </p:spPr>
        <p:txBody>
          <a:bodyPr wrap="square" lIns="0" tIns="0" rIns="0" bIns="0" rtlCol="0" anchor="t"/>
          <a:lstStyle/>
          <a:p>
            <a:pPr algn="ctr" indent="0" marL="0">
              <a:buNone/>
            </a:pPr>
            <a:r>
              <a:rPr lang="en-US" sz="1200" dirty="0">
                <a:solidFill>
                  <a:schemeClr val="bg1"/>
                </a:solidFill>
              </a:rPr>
              <a:t>Buy</a:t>
            </a:r>
            <a:endParaRPr lang="en-US" sz="1200" dirty="0"/>
          </a:p>
        </p:txBody>
      </p:sp>
      <p:sp>
        <p:nvSpPr>
          <p:cNvPr id="7" name="Shape 4"/>
          <p:cNvSpPr/>
          <p:nvPr/>
        </p:nvSpPr>
        <p:spPr>
          <a:xfrm>
            <a:off x="2148840" y="5074920"/>
            <a:ext cx="685800" cy="68580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2320290" y="5246370"/>
            <a:ext cx="342900" cy="342900"/>
          </a:xfrm>
          <a:prstGeom prst="rect">
            <a:avLst/>
          </a:prstGeom>
        </p:spPr>
      </p:pic>
      <p:sp>
        <p:nvSpPr>
          <p:cNvPr id="9" name="Text 5"/>
          <p:cNvSpPr txBox="1"/>
          <p:nvPr/>
        </p:nvSpPr>
        <p:spPr>
          <a:xfrm>
            <a:off x="1874520" y="5833872"/>
            <a:ext cx="1234440" cy="320040"/>
          </a:xfrm>
          <a:prstGeom prst="rect">
            <a:avLst/>
          </a:prstGeom>
          <a:noFill/>
          <a:ln/>
        </p:spPr>
        <p:txBody>
          <a:bodyPr wrap="square" lIns="0" tIns="0" rIns="0" bIns="0" rtlCol="0" anchor="t"/>
          <a:lstStyle/>
          <a:p>
            <a:pPr algn="ctr" indent="0" marL="0">
              <a:buNone/>
            </a:pPr>
            <a:r>
              <a:rPr lang="en-US" sz="1200" dirty="0">
                <a:solidFill>
                  <a:schemeClr val="bg1"/>
                </a:solidFill>
              </a:rPr>
              <a:t>Stock</a:t>
            </a:r>
            <a:endParaRPr lang="en-US" sz="1200" dirty="0"/>
          </a:p>
        </p:txBody>
      </p:sp>
      <p:sp>
        <p:nvSpPr>
          <p:cNvPr id="10" name="Shape 6"/>
          <p:cNvSpPr/>
          <p:nvPr/>
        </p:nvSpPr>
        <p:spPr>
          <a:xfrm>
            <a:off x="3566160" y="5074920"/>
            <a:ext cx="685800" cy="685800"/>
          </a:xfrm>
          <a:prstGeom prst="ellipse">
            <a:avLst/>
          </a:prstGeom>
          <a:solidFill>
            <a:schemeClr val="accent2"/>
          </a:solidFill>
          <a:ln w="12700">
            <a:solidFill>
              <a:schemeClr val="accent2"/>
            </a:solidFill>
            <a:prstDash val="solid"/>
          </a:ln>
        </p:spPr>
      </p:sp>
      <p:pic>
        <p:nvPicPr>
          <p:cNvPr id="11" name="Image 2" descr="preencoded.png">    </p:cNvPr>
          <p:cNvPicPr>
            <a:picLocks noChangeAspect="1"/>
          </p:cNvPicPr>
          <p:nvPr/>
        </p:nvPicPr>
        <p:blipFill>
          <a:blip r:embed="rId3"/>
          <a:stretch>
            <a:fillRect/>
          </a:stretch>
        </p:blipFill>
        <p:spPr>
          <a:xfrm>
            <a:off x="3737610" y="5246370"/>
            <a:ext cx="342900" cy="342900"/>
          </a:xfrm>
          <a:prstGeom prst="rect">
            <a:avLst/>
          </a:prstGeom>
        </p:spPr>
      </p:pic>
      <p:sp>
        <p:nvSpPr>
          <p:cNvPr id="12" name="Text 7"/>
          <p:cNvSpPr txBox="1"/>
          <p:nvPr/>
        </p:nvSpPr>
        <p:spPr>
          <a:xfrm>
            <a:off x="3291840" y="5833872"/>
            <a:ext cx="1234440" cy="320040"/>
          </a:xfrm>
          <a:prstGeom prst="rect">
            <a:avLst/>
          </a:prstGeom>
          <a:noFill/>
          <a:ln/>
        </p:spPr>
        <p:txBody>
          <a:bodyPr wrap="square" lIns="0" tIns="0" rIns="0" bIns="0" rtlCol="0" anchor="t"/>
          <a:lstStyle/>
          <a:p>
            <a:pPr algn="ctr" indent="0" marL="0">
              <a:buNone/>
            </a:pPr>
            <a:r>
              <a:rPr lang="en-US" sz="1200" dirty="0">
                <a:solidFill>
                  <a:schemeClr val="bg1"/>
                </a:solidFill>
              </a:rPr>
              <a:t>Sell &amp; ship</a:t>
            </a:r>
            <a:endParaRPr lang="en-US" sz="1200" dirty="0"/>
          </a:p>
        </p:txBody>
      </p:sp>
      <p:sp>
        <p:nvSpPr>
          <p:cNvPr id="13" name="Shape 8"/>
          <p:cNvSpPr/>
          <p:nvPr/>
        </p:nvSpPr>
        <p:spPr>
          <a:xfrm>
            <a:off x="4983480" y="5074920"/>
            <a:ext cx="685800" cy="685800"/>
          </a:xfrm>
          <a:prstGeom prst="ellipse">
            <a:avLst/>
          </a:prstGeom>
          <a:solidFill>
            <a:schemeClr val="accent2"/>
          </a:solidFill>
          <a:ln w="12700">
            <a:solidFill>
              <a:schemeClr val="accent2"/>
            </a:solidFill>
            <a:prstDash val="solid"/>
          </a:ln>
        </p:spPr>
      </p:sp>
      <p:pic>
        <p:nvPicPr>
          <p:cNvPr id="14" name="Image 3" descr="preencoded.png">    </p:cNvPr>
          <p:cNvPicPr>
            <a:picLocks noChangeAspect="1"/>
          </p:cNvPicPr>
          <p:nvPr/>
        </p:nvPicPr>
        <p:blipFill>
          <a:blip r:embed="rId4"/>
          <a:stretch>
            <a:fillRect/>
          </a:stretch>
        </p:blipFill>
        <p:spPr>
          <a:xfrm>
            <a:off x="5154930" y="5246370"/>
            <a:ext cx="342900" cy="342900"/>
          </a:xfrm>
          <a:prstGeom prst="rect">
            <a:avLst/>
          </a:prstGeom>
        </p:spPr>
      </p:pic>
      <p:sp>
        <p:nvSpPr>
          <p:cNvPr id="15" name="Text 9"/>
          <p:cNvSpPr txBox="1"/>
          <p:nvPr/>
        </p:nvSpPr>
        <p:spPr>
          <a:xfrm>
            <a:off x="4709160" y="5833872"/>
            <a:ext cx="1234440" cy="320040"/>
          </a:xfrm>
          <a:prstGeom prst="rect">
            <a:avLst/>
          </a:prstGeom>
          <a:noFill/>
          <a:ln/>
        </p:spPr>
        <p:txBody>
          <a:bodyPr wrap="square" lIns="0" tIns="0" rIns="0" bIns="0" rtlCol="0" anchor="t"/>
          <a:lstStyle/>
          <a:p>
            <a:pPr algn="ctr" indent="0" marL="0">
              <a:buNone/>
            </a:pPr>
            <a:r>
              <a:rPr lang="en-US" sz="1200" dirty="0">
                <a:solidFill>
                  <a:schemeClr val="bg1"/>
                </a:solidFill>
              </a:rPr>
              <a:t>Get paid</a:t>
            </a:r>
            <a:endParaRPr lang="en-US" sz="1200" dirty="0"/>
          </a:p>
        </p:txBody>
      </p:sp>
      <p:sp>
        <p:nvSpPr>
          <p:cNvPr id="16" name="Shape 10"/>
          <p:cNvSpPr/>
          <p:nvPr/>
        </p:nvSpPr>
        <p:spPr>
          <a:xfrm>
            <a:off x="6400800" y="5074920"/>
            <a:ext cx="685800" cy="685800"/>
          </a:xfrm>
          <a:prstGeom prst="ellipse">
            <a:avLst/>
          </a:prstGeom>
          <a:solidFill>
            <a:schemeClr val="accent2"/>
          </a:solidFill>
          <a:ln w="12700">
            <a:solidFill>
              <a:schemeClr val="accent2"/>
            </a:solidFill>
            <a:prstDash val="solid"/>
          </a:ln>
        </p:spPr>
      </p:sp>
      <p:pic>
        <p:nvPicPr>
          <p:cNvPr id="17" name="Image 4" descr="preencoded.png">    </p:cNvPr>
          <p:cNvPicPr>
            <a:picLocks noChangeAspect="1"/>
          </p:cNvPicPr>
          <p:nvPr/>
        </p:nvPicPr>
        <p:blipFill>
          <a:blip r:embed="rId5"/>
          <a:stretch>
            <a:fillRect/>
          </a:stretch>
        </p:blipFill>
        <p:spPr>
          <a:xfrm>
            <a:off x="6572250" y="5246370"/>
            <a:ext cx="342900" cy="342900"/>
          </a:xfrm>
          <a:prstGeom prst="rect">
            <a:avLst/>
          </a:prstGeom>
        </p:spPr>
      </p:pic>
      <p:sp>
        <p:nvSpPr>
          <p:cNvPr id="18" name="Text 11"/>
          <p:cNvSpPr txBox="1"/>
          <p:nvPr/>
        </p:nvSpPr>
        <p:spPr>
          <a:xfrm>
            <a:off x="6126480" y="5833872"/>
            <a:ext cx="1234440" cy="320040"/>
          </a:xfrm>
          <a:prstGeom prst="rect">
            <a:avLst/>
          </a:prstGeom>
          <a:noFill/>
          <a:ln/>
        </p:spPr>
        <p:txBody>
          <a:bodyPr wrap="square" lIns="0" tIns="0" rIns="0" bIns="0" rtlCol="0" anchor="t"/>
          <a:lstStyle/>
          <a:p>
            <a:pPr algn="ctr" indent="0" marL="0">
              <a:buNone/>
            </a:pPr>
            <a:r>
              <a:rPr lang="en-US" sz="1200" dirty="0">
                <a:solidFill>
                  <a:schemeClr val="bg1"/>
                </a:solidFill>
              </a:rPr>
              <a:t>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we built</a:t>
            </a:r>
            <a:endParaRPr lang="en-US" sz="3600" dirty="0"/>
          </a:p>
        </p:txBody>
      </p:sp>
      <p:sp>
        <p:nvSpPr>
          <p:cNvPr id="3" name="Text 1"/>
          <p:cNvSpPr txBox="1"/>
          <p:nvPr/>
        </p:nvSpPr>
        <p:spPr>
          <a:xfrm>
            <a:off x="548640" y="1280160"/>
            <a:ext cx="11064240" cy="731520"/>
          </a:xfrm>
          <a:prstGeom prst="rect">
            <a:avLst/>
          </a:prstGeom>
          <a:noFill/>
          <a:ln/>
        </p:spPr>
        <p:txBody>
          <a:bodyPr wrap="square" lIns="0" tIns="0" rIns="0" bIns="0" rtlCol="0" anchor="t"/>
          <a:lstStyle/>
          <a:p>
            <a:pPr indent="0" marL="0">
              <a:buNone/>
            </a:pPr>
            <a:r>
              <a:rPr lang="en-US" sz="1800" dirty="0">
                <a:solidFill>
                  <a:schemeClr val="accent5"/>
                </a:solidFill>
              </a:rPr>
              <a:t>One web app that runs the whole stock cycle for a small business. Each person sees only the screens their job needs.</a:t>
            </a:r>
            <a:endParaRPr lang="en-US" sz="1800" dirty="0"/>
          </a:p>
        </p:txBody>
      </p:sp>
      <p:sp>
        <p:nvSpPr>
          <p:cNvPr id="4" name="stat-0"/>
          <p:cNvSpPr/>
          <p:nvPr/>
        </p:nvSpPr>
        <p:spPr>
          <a:xfrm>
            <a:off x="548640" y="2286000"/>
            <a:ext cx="2560320" cy="2377440"/>
          </a:xfrm>
          <a:prstGeom prst="roundRect">
            <a:avLst>
              <a:gd name="adj" fmla="val 4615"/>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5" name="Text 3"/>
          <p:cNvSpPr txBox="1"/>
          <p:nvPr/>
        </p:nvSpPr>
        <p:spPr>
          <a:xfrm>
            <a:off x="822960" y="2468880"/>
            <a:ext cx="201168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7</a:t>
            </a:r>
            <a:endParaRPr lang="en-US" sz="6000" dirty="0"/>
          </a:p>
        </p:txBody>
      </p:sp>
      <p:sp>
        <p:nvSpPr>
          <p:cNvPr id="6" name="Text 4"/>
          <p:cNvSpPr txBox="1"/>
          <p:nvPr/>
        </p:nvSpPr>
        <p:spPr>
          <a:xfrm>
            <a:off x="822960" y="3520440"/>
            <a:ext cx="2103120" cy="365760"/>
          </a:xfrm>
          <a:prstGeom prst="rect">
            <a:avLst/>
          </a:prstGeom>
          <a:noFill/>
          <a:ln/>
        </p:spPr>
        <p:txBody>
          <a:bodyPr wrap="square" lIns="0" tIns="0" rIns="0" bIns="0" rtlCol="0" anchor="t"/>
          <a:lstStyle/>
          <a:p>
            <a:pPr indent="0" marL="0">
              <a:buNone/>
            </a:pPr>
            <a:r>
              <a:rPr lang="en-US" sz="1800" b="1" dirty="0">
                <a:solidFill>
                  <a:schemeClr val="tx1"/>
                </a:solidFill>
              </a:rPr>
              <a:t>ready-made roles</a:t>
            </a:r>
            <a:endParaRPr lang="en-US" sz="1800" dirty="0"/>
          </a:p>
        </p:txBody>
      </p:sp>
      <p:sp>
        <p:nvSpPr>
          <p:cNvPr id="7" name="Text 5"/>
          <p:cNvSpPr txBox="1"/>
          <p:nvPr/>
        </p:nvSpPr>
        <p:spPr>
          <a:xfrm>
            <a:off x="822960" y="3931920"/>
            <a:ext cx="2103120" cy="548640"/>
          </a:xfrm>
          <a:prstGeom prst="rect">
            <a:avLst/>
          </a:prstGeom>
          <a:noFill/>
          <a:ln/>
        </p:spPr>
        <p:txBody>
          <a:bodyPr wrap="square" lIns="0" tIns="0" rIns="0" bIns="0" rtlCol="0" anchor="t"/>
          <a:lstStyle/>
          <a:p>
            <a:pPr indent="0" marL="0">
              <a:buNone/>
            </a:pPr>
            <a:r>
              <a:rPr lang="en-US" sz="1300" dirty="0">
                <a:solidFill>
                  <a:schemeClr val="accent5"/>
                </a:solidFill>
              </a:rPr>
              <a:t>Admin to Read only</a:t>
            </a:r>
            <a:endParaRPr lang="en-US" sz="1300" dirty="0"/>
          </a:p>
        </p:txBody>
      </p:sp>
      <p:sp>
        <p:nvSpPr>
          <p:cNvPr id="8" name="stat-1"/>
          <p:cNvSpPr/>
          <p:nvPr/>
        </p:nvSpPr>
        <p:spPr>
          <a:xfrm>
            <a:off x="3383280" y="2286000"/>
            <a:ext cx="2560320" cy="2377440"/>
          </a:xfrm>
          <a:prstGeom prst="roundRect">
            <a:avLst>
              <a:gd name="adj" fmla="val 4615"/>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9" name="Text 7"/>
          <p:cNvSpPr txBox="1"/>
          <p:nvPr/>
        </p:nvSpPr>
        <p:spPr>
          <a:xfrm>
            <a:off x="3657600" y="2468880"/>
            <a:ext cx="201168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60</a:t>
            </a:r>
            <a:endParaRPr lang="en-US" sz="6000" dirty="0"/>
          </a:p>
        </p:txBody>
      </p:sp>
      <p:sp>
        <p:nvSpPr>
          <p:cNvPr id="10" name="Text 8"/>
          <p:cNvSpPr txBox="1"/>
          <p:nvPr/>
        </p:nvSpPr>
        <p:spPr>
          <a:xfrm>
            <a:off x="3657600" y="3520440"/>
            <a:ext cx="2103120" cy="365760"/>
          </a:xfrm>
          <a:prstGeom prst="rect">
            <a:avLst/>
          </a:prstGeom>
          <a:noFill/>
          <a:ln/>
        </p:spPr>
        <p:txBody>
          <a:bodyPr wrap="square" lIns="0" tIns="0" rIns="0" bIns="0" rtlCol="0" anchor="t"/>
          <a:lstStyle/>
          <a:p>
            <a:pPr indent="0" marL="0">
              <a:buNone/>
            </a:pPr>
            <a:r>
              <a:rPr lang="en-US" sz="1800" b="1" dirty="0">
                <a:solidFill>
                  <a:schemeClr val="tx1"/>
                </a:solidFill>
              </a:rPr>
              <a:t>data schemas</a:t>
            </a:r>
            <a:endParaRPr lang="en-US" sz="1800" dirty="0"/>
          </a:p>
        </p:txBody>
      </p:sp>
      <p:sp>
        <p:nvSpPr>
          <p:cNvPr id="11" name="Text 9"/>
          <p:cNvSpPr txBox="1"/>
          <p:nvPr/>
        </p:nvSpPr>
        <p:spPr>
          <a:xfrm>
            <a:off x="3657600" y="3931920"/>
            <a:ext cx="2103120" cy="548640"/>
          </a:xfrm>
          <a:prstGeom prst="rect">
            <a:avLst/>
          </a:prstGeom>
          <a:noFill/>
          <a:ln/>
        </p:spPr>
        <p:txBody>
          <a:bodyPr wrap="square" lIns="0" tIns="0" rIns="0" bIns="0" rtlCol="0" anchor="t"/>
          <a:lstStyle/>
          <a:p>
            <a:pPr indent="0" marL="0">
              <a:buNone/>
            </a:pPr>
            <a:r>
              <a:rPr lang="en-US" sz="1300" dirty="0">
                <a:solidFill>
                  <a:schemeClr val="accent5"/>
                </a:solidFill>
              </a:rPr>
              <a:t>on Blocks Data Gateway</a:t>
            </a:r>
            <a:endParaRPr lang="en-US" sz="1300" dirty="0"/>
          </a:p>
        </p:txBody>
      </p:sp>
      <p:sp>
        <p:nvSpPr>
          <p:cNvPr id="12" name="stat-2"/>
          <p:cNvSpPr/>
          <p:nvPr/>
        </p:nvSpPr>
        <p:spPr>
          <a:xfrm>
            <a:off x="6217920" y="2286000"/>
            <a:ext cx="2560320" cy="2377440"/>
          </a:xfrm>
          <a:prstGeom prst="roundRect">
            <a:avLst>
              <a:gd name="adj" fmla="val 4615"/>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3" name="Text 11"/>
          <p:cNvSpPr txBox="1"/>
          <p:nvPr/>
        </p:nvSpPr>
        <p:spPr>
          <a:xfrm>
            <a:off x="6492240" y="2468880"/>
            <a:ext cx="201168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21</a:t>
            </a:r>
            <a:endParaRPr lang="en-US" sz="6000" dirty="0"/>
          </a:p>
        </p:txBody>
      </p:sp>
      <p:sp>
        <p:nvSpPr>
          <p:cNvPr id="14" name="Text 12"/>
          <p:cNvSpPr txBox="1"/>
          <p:nvPr/>
        </p:nvSpPr>
        <p:spPr>
          <a:xfrm>
            <a:off x="6492240" y="3520440"/>
            <a:ext cx="2103120" cy="365760"/>
          </a:xfrm>
          <a:prstGeom prst="rect">
            <a:avLst/>
          </a:prstGeom>
          <a:noFill/>
          <a:ln/>
        </p:spPr>
        <p:txBody>
          <a:bodyPr wrap="square" lIns="0" tIns="0" rIns="0" bIns="0" rtlCol="0" anchor="t"/>
          <a:lstStyle/>
          <a:p>
            <a:pPr indent="0" marL="0">
              <a:buNone/>
            </a:pPr>
            <a:r>
              <a:rPr lang="en-US" sz="1800" b="1" dirty="0">
                <a:solidFill>
                  <a:schemeClr val="tx1"/>
                </a:solidFill>
              </a:rPr>
              <a:t>built-in reports</a:t>
            </a:r>
            <a:endParaRPr lang="en-US" sz="1800" dirty="0"/>
          </a:p>
        </p:txBody>
      </p:sp>
      <p:sp>
        <p:nvSpPr>
          <p:cNvPr id="15" name="Text 13"/>
          <p:cNvSpPr txBox="1"/>
          <p:nvPr/>
        </p:nvSpPr>
        <p:spPr>
          <a:xfrm>
            <a:off x="6492240" y="3931920"/>
            <a:ext cx="2103120" cy="548640"/>
          </a:xfrm>
          <a:prstGeom prst="rect">
            <a:avLst/>
          </a:prstGeom>
          <a:noFill/>
          <a:ln/>
        </p:spPr>
        <p:txBody>
          <a:bodyPr wrap="square" lIns="0" tIns="0" rIns="0" bIns="0" rtlCol="0" anchor="t"/>
          <a:lstStyle/>
          <a:p>
            <a:pPr indent="0" marL="0">
              <a:buNone/>
            </a:pPr>
            <a:r>
              <a:rPr lang="en-US" sz="1300" dirty="0">
                <a:solidFill>
                  <a:schemeClr val="accent5"/>
                </a:solidFill>
              </a:rPr>
              <a:t>CSV or Print / PDF</a:t>
            </a:r>
            <a:endParaRPr lang="en-US" sz="1300" dirty="0"/>
          </a:p>
        </p:txBody>
      </p:sp>
      <p:sp>
        <p:nvSpPr>
          <p:cNvPr id="16" name="stat-3"/>
          <p:cNvSpPr/>
          <p:nvPr/>
        </p:nvSpPr>
        <p:spPr>
          <a:xfrm>
            <a:off x="9052560" y="2286000"/>
            <a:ext cx="2560320" cy="2377440"/>
          </a:xfrm>
          <a:prstGeom prst="roundRect">
            <a:avLst>
              <a:gd name="adj" fmla="val 4615"/>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7" name="Text 15"/>
          <p:cNvSpPr txBox="1"/>
          <p:nvPr/>
        </p:nvSpPr>
        <p:spPr>
          <a:xfrm>
            <a:off x="9326880" y="2468880"/>
            <a:ext cx="201168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a:t>
            </a:r>
            <a:endParaRPr lang="en-US" sz="6000" dirty="0"/>
          </a:p>
        </p:txBody>
      </p:sp>
      <p:sp>
        <p:nvSpPr>
          <p:cNvPr id="18" name="Text 16"/>
          <p:cNvSpPr txBox="1"/>
          <p:nvPr/>
        </p:nvSpPr>
        <p:spPr>
          <a:xfrm>
            <a:off x="9326880" y="3520440"/>
            <a:ext cx="2103120" cy="365760"/>
          </a:xfrm>
          <a:prstGeom prst="rect">
            <a:avLst/>
          </a:prstGeom>
          <a:noFill/>
          <a:ln/>
        </p:spPr>
        <p:txBody>
          <a:bodyPr wrap="square" lIns="0" tIns="0" rIns="0" bIns="0" rtlCol="0" anchor="t"/>
          <a:lstStyle/>
          <a:p>
            <a:pPr indent="0" marL="0">
              <a:buNone/>
            </a:pPr>
            <a:r>
              <a:rPr lang="en-US" sz="1800" b="1" dirty="0">
                <a:solidFill>
                  <a:schemeClr val="tx1"/>
                </a:solidFill>
              </a:rPr>
              <a:t>custom backend</a:t>
            </a:r>
            <a:endParaRPr lang="en-US" sz="1800" dirty="0"/>
          </a:p>
        </p:txBody>
      </p:sp>
      <p:sp>
        <p:nvSpPr>
          <p:cNvPr id="19" name="Text 17"/>
          <p:cNvSpPr txBox="1"/>
          <p:nvPr/>
        </p:nvSpPr>
        <p:spPr>
          <a:xfrm>
            <a:off x="9326880" y="3931920"/>
            <a:ext cx="2103120" cy="548640"/>
          </a:xfrm>
          <a:prstGeom prst="rect">
            <a:avLst/>
          </a:prstGeom>
          <a:noFill/>
          <a:ln/>
        </p:spPr>
        <p:txBody>
          <a:bodyPr wrap="square" lIns="0" tIns="0" rIns="0" bIns="0" rtlCol="0" anchor="t"/>
          <a:lstStyle/>
          <a:p>
            <a:pPr indent="0" marL="0">
              <a:buNone/>
            </a:pPr>
            <a:r>
              <a:rPr lang="en-US" sz="1300" dirty="0">
                <a:solidFill>
                  <a:schemeClr val="accent5"/>
                </a:solidFill>
              </a:rPr>
              <a:t>Blocks does sign-in, data, mail</a:t>
            </a:r>
            <a:endParaRPr lang="en-US" sz="1300" dirty="0"/>
          </a:p>
        </p:txBody>
      </p:sp>
      <p:sp>
        <p:nvSpPr>
          <p:cNvPr id="20" name="Text 18"/>
          <p:cNvSpPr txBox="1"/>
          <p:nvPr/>
        </p:nvSpPr>
        <p:spPr>
          <a:xfrm>
            <a:off x="548640" y="5074920"/>
            <a:ext cx="2743200" cy="365760"/>
          </a:xfrm>
          <a:prstGeom prst="rect">
            <a:avLst/>
          </a:prstGeom>
          <a:noFill/>
          <a:ln/>
        </p:spPr>
        <p:txBody>
          <a:bodyPr wrap="square" lIns="0" tIns="0" rIns="0" bIns="0" rtlCol="0" anchor="t"/>
          <a:lstStyle/>
          <a:p>
            <a:pPr indent="0" marL="0">
              <a:buNone/>
            </a:pPr>
            <a:r>
              <a:rPr lang="en-US" sz="1400" b="1" dirty="0">
                <a:solidFill>
                  <a:schemeClr val="accent5"/>
                </a:solidFill>
              </a:rPr>
              <a:t>Sidebar modules</a:t>
            </a:r>
            <a:endParaRPr lang="en-US" sz="1400" dirty="0"/>
          </a:p>
        </p:txBody>
      </p:sp>
      <p:sp>
        <p:nvSpPr>
          <p:cNvPr id="21" name="Shape 19"/>
          <p:cNvSpPr/>
          <p:nvPr/>
        </p:nvSpPr>
        <p:spPr>
          <a:xfrm>
            <a:off x="548640" y="5486400"/>
            <a:ext cx="1828800" cy="457200"/>
          </a:xfrm>
          <a:prstGeom prst="roundRect">
            <a:avLst>
              <a:gd name="adj" fmla="val 50000"/>
            </a:avLst>
          </a:prstGeom>
          <a:solidFill>
            <a:schemeClr val="accent6"/>
          </a:solidFill>
          <a:ln w="12700">
            <a:solidFill>
              <a:schemeClr val="accent6"/>
            </a:solidFill>
            <a:prstDash val="solid"/>
          </a:ln>
        </p:spPr>
      </p:sp>
      <p:sp>
        <p:nvSpPr>
          <p:cNvPr id="22" name="Text 20"/>
          <p:cNvSpPr txBox="1"/>
          <p:nvPr/>
        </p:nvSpPr>
        <p:spPr>
          <a:xfrm>
            <a:off x="548640" y="5486400"/>
            <a:ext cx="1828800" cy="457200"/>
          </a:xfrm>
          <a:prstGeom prst="rect">
            <a:avLst/>
          </a:prstGeom>
          <a:noFill/>
          <a:ln/>
        </p:spPr>
        <p:txBody>
          <a:bodyPr wrap="square" lIns="0" tIns="0" rIns="0" bIns="0" rtlCol="0" anchor="ctr"/>
          <a:lstStyle/>
          <a:p>
            <a:pPr algn="ctr" indent="0" marL="0">
              <a:buNone/>
            </a:pPr>
            <a:r>
              <a:rPr lang="en-US" sz="1400" b="1" dirty="0">
                <a:solidFill>
                  <a:schemeClr val="tx2"/>
                </a:solidFill>
              </a:rPr>
              <a:t>Sales</a:t>
            </a:r>
            <a:endParaRPr lang="en-US" sz="1400" dirty="0"/>
          </a:p>
        </p:txBody>
      </p:sp>
      <p:sp>
        <p:nvSpPr>
          <p:cNvPr id="23" name="Shape 21"/>
          <p:cNvSpPr/>
          <p:nvPr/>
        </p:nvSpPr>
        <p:spPr>
          <a:xfrm>
            <a:off x="2560320" y="5486400"/>
            <a:ext cx="1828800" cy="457200"/>
          </a:xfrm>
          <a:prstGeom prst="roundRect">
            <a:avLst>
              <a:gd name="adj" fmla="val 50000"/>
            </a:avLst>
          </a:prstGeom>
          <a:solidFill>
            <a:schemeClr val="accent6"/>
          </a:solidFill>
          <a:ln w="12700">
            <a:solidFill>
              <a:schemeClr val="accent6"/>
            </a:solidFill>
            <a:prstDash val="solid"/>
          </a:ln>
        </p:spPr>
      </p:sp>
      <p:sp>
        <p:nvSpPr>
          <p:cNvPr id="24" name="Text 22"/>
          <p:cNvSpPr txBox="1"/>
          <p:nvPr/>
        </p:nvSpPr>
        <p:spPr>
          <a:xfrm>
            <a:off x="2560320" y="5486400"/>
            <a:ext cx="1828800" cy="457200"/>
          </a:xfrm>
          <a:prstGeom prst="rect">
            <a:avLst/>
          </a:prstGeom>
          <a:noFill/>
          <a:ln/>
        </p:spPr>
        <p:txBody>
          <a:bodyPr wrap="square" lIns="0" tIns="0" rIns="0" bIns="0" rtlCol="0" anchor="ctr"/>
          <a:lstStyle/>
          <a:p>
            <a:pPr algn="ctr" indent="0" marL="0">
              <a:buNone/>
            </a:pPr>
            <a:r>
              <a:rPr lang="en-US" sz="1400" b="1" dirty="0">
                <a:solidFill>
                  <a:schemeClr val="tx2"/>
                </a:solidFill>
              </a:rPr>
              <a:t>Purchasing</a:t>
            </a:r>
            <a:endParaRPr lang="en-US" sz="1400" dirty="0"/>
          </a:p>
        </p:txBody>
      </p:sp>
      <p:sp>
        <p:nvSpPr>
          <p:cNvPr id="25" name="Shape 23"/>
          <p:cNvSpPr/>
          <p:nvPr/>
        </p:nvSpPr>
        <p:spPr>
          <a:xfrm>
            <a:off x="4572000" y="5486400"/>
            <a:ext cx="1828800" cy="457200"/>
          </a:xfrm>
          <a:prstGeom prst="roundRect">
            <a:avLst>
              <a:gd name="adj" fmla="val 50000"/>
            </a:avLst>
          </a:prstGeom>
          <a:solidFill>
            <a:schemeClr val="accent6"/>
          </a:solidFill>
          <a:ln w="12700">
            <a:solidFill>
              <a:schemeClr val="accent6"/>
            </a:solidFill>
            <a:prstDash val="solid"/>
          </a:ln>
        </p:spPr>
      </p:sp>
      <p:sp>
        <p:nvSpPr>
          <p:cNvPr id="26" name="Text 24"/>
          <p:cNvSpPr txBox="1"/>
          <p:nvPr/>
        </p:nvSpPr>
        <p:spPr>
          <a:xfrm>
            <a:off x="4572000" y="5486400"/>
            <a:ext cx="1828800" cy="457200"/>
          </a:xfrm>
          <a:prstGeom prst="rect">
            <a:avLst/>
          </a:prstGeom>
          <a:noFill/>
          <a:ln/>
        </p:spPr>
        <p:txBody>
          <a:bodyPr wrap="square" lIns="0" tIns="0" rIns="0" bIns="0" rtlCol="0" anchor="ctr"/>
          <a:lstStyle/>
          <a:p>
            <a:pPr algn="ctr" indent="0" marL="0">
              <a:buNone/>
            </a:pPr>
            <a:r>
              <a:rPr lang="en-US" sz="1400" b="1" dirty="0">
                <a:solidFill>
                  <a:schemeClr val="tx2"/>
                </a:solidFill>
              </a:rPr>
              <a:t>Inventory</a:t>
            </a:r>
            <a:endParaRPr lang="en-US" sz="1400" dirty="0"/>
          </a:p>
        </p:txBody>
      </p:sp>
      <p:sp>
        <p:nvSpPr>
          <p:cNvPr id="27" name="Shape 25"/>
          <p:cNvSpPr/>
          <p:nvPr/>
        </p:nvSpPr>
        <p:spPr>
          <a:xfrm>
            <a:off x="6583680" y="5486400"/>
            <a:ext cx="1828800" cy="457200"/>
          </a:xfrm>
          <a:prstGeom prst="roundRect">
            <a:avLst>
              <a:gd name="adj" fmla="val 50000"/>
            </a:avLst>
          </a:prstGeom>
          <a:solidFill>
            <a:schemeClr val="accent6"/>
          </a:solidFill>
          <a:ln w="12700">
            <a:solidFill>
              <a:schemeClr val="accent6"/>
            </a:solidFill>
            <a:prstDash val="solid"/>
          </a:ln>
        </p:spPr>
      </p:sp>
      <p:sp>
        <p:nvSpPr>
          <p:cNvPr id="28" name="Text 26"/>
          <p:cNvSpPr txBox="1"/>
          <p:nvPr/>
        </p:nvSpPr>
        <p:spPr>
          <a:xfrm>
            <a:off x="6583680" y="5486400"/>
            <a:ext cx="1828800" cy="457200"/>
          </a:xfrm>
          <a:prstGeom prst="rect">
            <a:avLst/>
          </a:prstGeom>
          <a:noFill/>
          <a:ln/>
        </p:spPr>
        <p:txBody>
          <a:bodyPr wrap="square" lIns="0" tIns="0" rIns="0" bIns="0" rtlCol="0" anchor="ctr"/>
          <a:lstStyle/>
          <a:p>
            <a:pPr algn="ctr" indent="0" marL="0">
              <a:buNone/>
            </a:pPr>
            <a:r>
              <a:rPr lang="en-US" sz="1400" b="1" dirty="0">
                <a:solidFill>
                  <a:schemeClr val="tx2"/>
                </a:solidFill>
              </a:rPr>
              <a:t>Reports</a:t>
            </a:r>
            <a:endParaRPr lang="en-US" sz="1400" dirty="0"/>
          </a:p>
        </p:txBody>
      </p:sp>
      <p:sp>
        <p:nvSpPr>
          <p:cNvPr id="29" name="Shape 27"/>
          <p:cNvSpPr/>
          <p:nvPr/>
        </p:nvSpPr>
        <p:spPr>
          <a:xfrm>
            <a:off x="8595360" y="5486400"/>
            <a:ext cx="1828800" cy="457200"/>
          </a:xfrm>
          <a:prstGeom prst="roundRect">
            <a:avLst>
              <a:gd name="adj" fmla="val 50000"/>
            </a:avLst>
          </a:prstGeom>
          <a:solidFill>
            <a:schemeClr val="accent6"/>
          </a:solidFill>
          <a:ln w="12700">
            <a:solidFill>
              <a:schemeClr val="accent6"/>
            </a:solidFill>
            <a:prstDash val="solid"/>
          </a:ln>
        </p:spPr>
      </p:sp>
      <p:sp>
        <p:nvSpPr>
          <p:cNvPr id="30" name="Text 28"/>
          <p:cNvSpPr txBox="1"/>
          <p:nvPr/>
        </p:nvSpPr>
        <p:spPr>
          <a:xfrm>
            <a:off x="8595360" y="5486400"/>
            <a:ext cx="1828800" cy="457200"/>
          </a:xfrm>
          <a:prstGeom prst="rect">
            <a:avLst/>
          </a:prstGeom>
          <a:noFill/>
          <a:ln/>
        </p:spPr>
        <p:txBody>
          <a:bodyPr wrap="square" lIns="0" tIns="0" rIns="0" bIns="0" rtlCol="0" anchor="ctr"/>
          <a:lstStyle/>
          <a:p>
            <a:pPr algn="ctr" indent="0" marL="0">
              <a:buNone/>
            </a:pPr>
            <a:r>
              <a:rPr lang="en-US" sz="1400" b="1" dirty="0">
                <a:solidFill>
                  <a:schemeClr val="tx2"/>
                </a:solidFill>
              </a:rPr>
              <a:t>Settings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business flow we will demo</a:t>
            </a:r>
            <a:endParaRPr lang="en-US" sz="3600" dirty="0"/>
          </a:p>
        </p:txBody>
      </p:sp>
      <p:sp>
        <p:nvSpPr>
          <p:cNvPr id="3" name="step-0"/>
          <p:cNvSpPr/>
          <p:nvPr/>
        </p:nvSpPr>
        <p:spPr>
          <a:xfrm>
            <a:off x="548640" y="1417320"/>
            <a:ext cx="2011680" cy="1828800"/>
          </a:xfrm>
          <a:prstGeom prst="roundRect">
            <a:avLst>
              <a:gd name="adj" fmla="val 6000"/>
            </a:avLst>
          </a:prstGeom>
          <a:solidFill>
            <a:schemeClr val="bg2"/>
          </a:solidFill>
          <a:ln w="12700">
            <a:solidFill>
              <a:schemeClr val="bg2"/>
            </a:solidFill>
            <a:prstDash val="solid"/>
          </a:ln>
        </p:spPr>
      </p:sp>
      <p:sp>
        <p:nvSpPr>
          <p:cNvPr id="4" name="Shape 2"/>
          <p:cNvSpPr/>
          <p:nvPr/>
        </p:nvSpPr>
        <p:spPr>
          <a:xfrm>
            <a:off x="731520" y="160020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1540" y="1760220"/>
            <a:ext cx="320040" cy="320040"/>
          </a:xfrm>
          <a:prstGeom prst="rect">
            <a:avLst/>
          </a:prstGeom>
        </p:spPr>
      </p:pic>
      <p:sp>
        <p:nvSpPr>
          <p:cNvPr id="6" name="Text 3"/>
          <p:cNvSpPr txBox="1"/>
          <p:nvPr/>
        </p:nvSpPr>
        <p:spPr>
          <a:xfrm>
            <a:off x="2011680" y="164592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1</a:t>
            </a:r>
            <a:endParaRPr lang="en-US" sz="1400" dirty="0"/>
          </a:p>
        </p:txBody>
      </p:sp>
      <p:sp>
        <p:nvSpPr>
          <p:cNvPr id="7" name="Text 4"/>
          <p:cNvSpPr txBox="1"/>
          <p:nvPr/>
        </p:nvSpPr>
        <p:spPr>
          <a:xfrm>
            <a:off x="731520" y="2331720"/>
            <a:ext cx="1737360" cy="365760"/>
          </a:xfrm>
          <a:prstGeom prst="rect">
            <a:avLst/>
          </a:prstGeom>
          <a:noFill/>
          <a:ln/>
        </p:spPr>
        <p:txBody>
          <a:bodyPr wrap="square" lIns="0" tIns="0" rIns="0" bIns="0" rtlCol="0" anchor="t"/>
          <a:lstStyle/>
          <a:p>
            <a:pPr indent="0" marL="0">
              <a:buNone/>
            </a:pPr>
            <a:r>
              <a:rPr lang="en-US" sz="1700" b="1" dirty="0">
                <a:solidFill>
                  <a:schemeClr val="tx1"/>
                </a:solidFill>
              </a:rPr>
              <a:t>Buy</a:t>
            </a:r>
            <a:endParaRPr lang="en-US" sz="1700" dirty="0"/>
          </a:p>
        </p:txBody>
      </p:sp>
      <p:sp>
        <p:nvSpPr>
          <p:cNvPr id="8" name="Text 5"/>
          <p:cNvSpPr txBox="1"/>
          <p:nvPr/>
        </p:nvSpPr>
        <p:spPr>
          <a:xfrm>
            <a:off x="731520" y="269748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Purchase order</a:t>
            </a:r>
            <a:endParaRPr lang="en-US" sz="1300" dirty="0"/>
          </a:p>
        </p:txBody>
      </p:sp>
      <p:sp>
        <p:nvSpPr>
          <p:cNvPr id="9" name="Shape 6"/>
          <p:cNvSpPr/>
          <p:nvPr/>
        </p:nvSpPr>
        <p:spPr>
          <a:xfrm rot="5400000">
            <a:off x="2560320" y="2231136"/>
            <a:ext cx="274320" cy="201168"/>
          </a:xfrm>
          <a:prstGeom prst="triangle">
            <a:avLst/>
          </a:prstGeom>
          <a:solidFill>
            <a:schemeClr val="accent2"/>
          </a:solidFill>
          <a:ln w="12700">
            <a:solidFill>
              <a:schemeClr val="accent2"/>
            </a:solidFill>
            <a:prstDash val="solid"/>
          </a:ln>
        </p:spPr>
      </p:sp>
      <p:sp>
        <p:nvSpPr>
          <p:cNvPr id="10" name="step-1"/>
          <p:cNvSpPr/>
          <p:nvPr/>
        </p:nvSpPr>
        <p:spPr>
          <a:xfrm>
            <a:off x="2834640" y="1417320"/>
            <a:ext cx="2011680" cy="1828800"/>
          </a:xfrm>
          <a:prstGeom prst="roundRect">
            <a:avLst>
              <a:gd name="adj" fmla="val 6000"/>
            </a:avLst>
          </a:prstGeom>
          <a:solidFill>
            <a:schemeClr val="bg2"/>
          </a:solidFill>
          <a:ln w="12700">
            <a:solidFill>
              <a:schemeClr val="bg2"/>
            </a:solidFill>
            <a:prstDash val="solid"/>
          </a:ln>
        </p:spPr>
      </p:sp>
      <p:sp>
        <p:nvSpPr>
          <p:cNvPr id="11" name="Shape 8"/>
          <p:cNvSpPr/>
          <p:nvPr/>
        </p:nvSpPr>
        <p:spPr>
          <a:xfrm>
            <a:off x="3017520" y="1600200"/>
            <a:ext cx="640080" cy="64008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177540" y="1760220"/>
            <a:ext cx="320040" cy="320040"/>
          </a:xfrm>
          <a:prstGeom prst="rect">
            <a:avLst/>
          </a:prstGeom>
        </p:spPr>
      </p:pic>
      <p:sp>
        <p:nvSpPr>
          <p:cNvPr id="13" name="Text 9"/>
          <p:cNvSpPr txBox="1"/>
          <p:nvPr/>
        </p:nvSpPr>
        <p:spPr>
          <a:xfrm>
            <a:off x="4297680" y="164592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2</a:t>
            </a:r>
            <a:endParaRPr lang="en-US" sz="1400" dirty="0"/>
          </a:p>
        </p:txBody>
      </p:sp>
      <p:sp>
        <p:nvSpPr>
          <p:cNvPr id="14" name="Text 10"/>
          <p:cNvSpPr txBox="1"/>
          <p:nvPr/>
        </p:nvSpPr>
        <p:spPr>
          <a:xfrm>
            <a:off x="3017520" y="2331720"/>
            <a:ext cx="1737360" cy="365760"/>
          </a:xfrm>
          <a:prstGeom prst="rect">
            <a:avLst/>
          </a:prstGeom>
          <a:noFill/>
          <a:ln/>
        </p:spPr>
        <p:txBody>
          <a:bodyPr wrap="square" lIns="0" tIns="0" rIns="0" bIns="0" rtlCol="0" anchor="t"/>
          <a:lstStyle/>
          <a:p>
            <a:pPr indent="0" marL="0">
              <a:buNone/>
            </a:pPr>
            <a:r>
              <a:rPr lang="en-US" sz="1700" b="1" dirty="0">
                <a:solidFill>
                  <a:schemeClr val="tx1"/>
                </a:solidFill>
              </a:rPr>
              <a:t>Approve</a:t>
            </a:r>
            <a:endParaRPr lang="en-US" sz="1700" dirty="0"/>
          </a:p>
        </p:txBody>
      </p:sp>
      <p:sp>
        <p:nvSpPr>
          <p:cNvPr id="15" name="Text 11"/>
          <p:cNvSpPr txBox="1"/>
          <p:nvPr/>
        </p:nvSpPr>
        <p:spPr>
          <a:xfrm>
            <a:off x="3017520" y="269748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Within your limit</a:t>
            </a:r>
            <a:endParaRPr lang="en-US" sz="1300" dirty="0"/>
          </a:p>
        </p:txBody>
      </p:sp>
      <p:sp>
        <p:nvSpPr>
          <p:cNvPr id="16" name="Shape 12"/>
          <p:cNvSpPr/>
          <p:nvPr/>
        </p:nvSpPr>
        <p:spPr>
          <a:xfrm rot="5400000">
            <a:off x="4846320" y="2231136"/>
            <a:ext cx="274320" cy="201168"/>
          </a:xfrm>
          <a:prstGeom prst="triangle">
            <a:avLst/>
          </a:prstGeom>
          <a:solidFill>
            <a:schemeClr val="accent2"/>
          </a:solidFill>
          <a:ln w="12700">
            <a:solidFill>
              <a:schemeClr val="accent2"/>
            </a:solidFill>
            <a:prstDash val="solid"/>
          </a:ln>
        </p:spPr>
      </p:sp>
      <p:sp>
        <p:nvSpPr>
          <p:cNvPr id="17" name="step-2"/>
          <p:cNvSpPr/>
          <p:nvPr/>
        </p:nvSpPr>
        <p:spPr>
          <a:xfrm>
            <a:off x="5120640" y="1417320"/>
            <a:ext cx="2011680" cy="1828800"/>
          </a:xfrm>
          <a:prstGeom prst="roundRect">
            <a:avLst>
              <a:gd name="adj" fmla="val 6000"/>
            </a:avLst>
          </a:prstGeom>
          <a:solidFill>
            <a:schemeClr val="bg2"/>
          </a:solidFill>
          <a:ln w="12700">
            <a:solidFill>
              <a:schemeClr val="bg2"/>
            </a:solidFill>
            <a:prstDash val="solid"/>
          </a:ln>
        </p:spPr>
      </p:sp>
      <p:sp>
        <p:nvSpPr>
          <p:cNvPr id="18" name="Shape 14"/>
          <p:cNvSpPr/>
          <p:nvPr/>
        </p:nvSpPr>
        <p:spPr>
          <a:xfrm>
            <a:off x="5303520" y="1600200"/>
            <a:ext cx="640080" cy="64008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5463540" y="1760220"/>
            <a:ext cx="320040" cy="320040"/>
          </a:xfrm>
          <a:prstGeom prst="rect">
            <a:avLst/>
          </a:prstGeom>
        </p:spPr>
      </p:pic>
      <p:sp>
        <p:nvSpPr>
          <p:cNvPr id="20" name="Text 15"/>
          <p:cNvSpPr txBox="1"/>
          <p:nvPr/>
        </p:nvSpPr>
        <p:spPr>
          <a:xfrm>
            <a:off x="6583680" y="164592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3</a:t>
            </a:r>
            <a:endParaRPr lang="en-US" sz="1400" dirty="0"/>
          </a:p>
        </p:txBody>
      </p:sp>
      <p:sp>
        <p:nvSpPr>
          <p:cNvPr id="21" name="Text 16"/>
          <p:cNvSpPr txBox="1"/>
          <p:nvPr/>
        </p:nvSpPr>
        <p:spPr>
          <a:xfrm>
            <a:off x="5303520" y="2331720"/>
            <a:ext cx="1737360" cy="365760"/>
          </a:xfrm>
          <a:prstGeom prst="rect">
            <a:avLst/>
          </a:prstGeom>
          <a:noFill/>
          <a:ln/>
        </p:spPr>
        <p:txBody>
          <a:bodyPr wrap="square" lIns="0" tIns="0" rIns="0" bIns="0" rtlCol="0" anchor="t"/>
          <a:lstStyle/>
          <a:p>
            <a:pPr indent="0" marL="0">
              <a:buNone/>
            </a:pPr>
            <a:r>
              <a:rPr lang="en-US" sz="1700" b="1" dirty="0">
                <a:solidFill>
                  <a:schemeClr val="tx1"/>
                </a:solidFill>
              </a:rPr>
              <a:t>Receive</a:t>
            </a:r>
            <a:endParaRPr lang="en-US" sz="1700" dirty="0"/>
          </a:p>
        </p:txBody>
      </p:sp>
      <p:sp>
        <p:nvSpPr>
          <p:cNvPr id="22" name="Text 17"/>
          <p:cNvSpPr txBox="1"/>
          <p:nvPr/>
        </p:nvSpPr>
        <p:spPr>
          <a:xfrm>
            <a:off x="5303520" y="269748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Into location, bin, lot</a:t>
            </a:r>
            <a:endParaRPr lang="en-US" sz="1300" dirty="0"/>
          </a:p>
        </p:txBody>
      </p:sp>
      <p:sp>
        <p:nvSpPr>
          <p:cNvPr id="23" name="Shape 18"/>
          <p:cNvSpPr/>
          <p:nvPr/>
        </p:nvSpPr>
        <p:spPr>
          <a:xfrm rot="5400000">
            <a:off x="7132320" y="2231136"/>
            <a:ext cx="274320" cy="201168"/>
          </a:xfrm>
          <a:prstGeom prst="triangle">
            <a:avLst/>
          </a:prstGeom>
          <a:solidFill>
            <a:schemeClr val="accent2"/>
          </a:solidFill>
          <a:ln w="12700">
            <a:solidFill>
              <a:schemeClr val="accent2"/>
            </a:solidFill>
            <a:prstDash val="solid"/>
          </a:ln>
        </p:spPr>
      </p:sp>
      <p:sp>
        <p:nvSpPr>
          <p:cNvPr id="24" name="step-3"/>
          <p:cNvSpPr/>
          <p:nvPr/>
        </p:nvSpPr>
        <p:spPr>
          <a:xfrm>
            <a:off x="7406640" y="1417320"/>
            <a:ext cx="2011680" cy="1828800"/>
          </a:xfrm>
          <a:prstGeom prst="roundRect">
            <a:avLst>
              <a:gd name="adj" fmla="val 6000"/>
            </a:avLst>
          </a:prstGeom>
          <a:solidFill>
            <a:schemeClr val="bg2"/>
          </a:solidFill>
          <a:ln w="12700">
            <a:solidFill>
              <a:schemeClr val="bg2"/>
            </a:solidFill>
            <a:prstDash val="solid"/>
          </a:ln>
        </p:spPr>
      </p:sp>
      <p:sp>
        <p:nvSpPr>
          <p:cNvPr id="25" name="Shape 20"/>
          <p:cNvSpPr/>
          <p:nvPr/>
        </p:nvSpPr>
        <p:spPr>
          <a:xfrm>
            <a:off x="7589520" y="1600200"/>
            <a:ext cx="640080" cy="640080"/>
          </a:xfrm>
          <a:prstGeom prst="ellipse">
            <a:avLst/>
          </a:prstGeom>
          <a:solidFill>
            <a:schemeClr val="accent1"/>
          </a:solidFill>
          <a:ln w="12700">
            <a:solidFill>
              <a:schemeClr val="accent1"/>
            </a:solidFill>
            <a:prstDash val="solid"/>
          </a:ln>
        </p:spPr>
      </p:sp>
      <p:pic>
        <p:nvPicPr>
          <p:cNvPr id="26" name="Image 3" descr="preencoded.png">    </p:cNvPr>
          <p:cNvPicPr>
            <a:picLocks noChangeAspect="1"/>
          </p:cNvPicPr>
          <p:nvPr/>
        </p:nvPicPr>
        <p:blipFill>
          <a:blip r:embed="rId4"/>
          <a:stretch>
            <a:fillRect/>
          </a:stretch>
        </p:blipFill>
        <p:spPr>
          <a:xfrm>
            <a:off x="7749540" y="1760220"/>
            <a:ext cx="320040" cy="320040"/>
          </a:xfrm>
          <a:prstGeom prst="rect">
            <a:avLst/>
          </a:prstGeom>
        </p:spPr>
      </p:pic>
      <p:sp>
        <p:nvSpPr>
          <p:cNvPr id="27" name="Text 21"/>
          <p:cNvSpPr txBox="1"/>
          <p:nvPr/>
        </p:nvSpPr>
        <p:spPr>
          <a:xfrm>
            <a:off x="8869680" y="164592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4</a:t>
            </a:r>
            <a:endParaRPr lang="en-US" sz="1400" dirty="0"/>
          </a:p>
        </p:txBody>
      </p:sp>
      <p:sp>
        <p:nvSpPr>
          <p:cNvPr id="28" name="Text 22"/>
          <p:cNvSpPr txBox="1"/>
          <p:nvPr/>
        </p:nvSpPr>
        <p:spPr>
          <a:xfrm>
            <a:off x="7589520" y="2331720"/>
            <a:ext cx="1737360" cy="365760"/>
          </a:xfrm>
          <a:prstGeom prst="rect">
            <a:avLst/>
          </a:prstGeom>
          <a:noFill/>
          <a:ln/>
        </p:spPr>
        <p:txBody>
          <a:bodyPr wrap="square" lIns="0" tIns="0" rIns="0" bIns="0" rtlCol="0" anchor="t"/>
          <a:lstStyle/>
          <a:p>
            <a:pPr indent="0" marL="0">
              <a:buNone/>
            </a:pPr>
            <a:r>
              <a:rPr lang="en-US" sz="1700" b="1" dirty="0">
                <a:solidFill>
                  <a:schemeClr val="tx1"/>
                </a:solidFill>
              </a:rPr>
              <a:t>Stock</a:t>
            </a:r>
            <a:endParaRPr lang="en-US" sz="1700" dirty="0"/>
          </a:p>
        </p:txBody>
      </p:sp>
      <p:sp>
        <p:nvSpPr>
          <p:cNvPr id="29" name="Text 23"/>
          <p:cNvSpPr txBox="1"/>
          <p:nvPr/>
        </p:nvSpPr>
        <p:spPr>
          <a:xfrm>
            <a:off x="7589520" y="269748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Ledger updates on hand</a:t>
            </a:r>
            <a:endParaRPr lang="en-US" sz="1300" dirty="0"/>
          </a:p>
        </p:txBody>
      </p:sp>
      <p:sp>
        <p:nvSpPr>
          <p:cNvPr id="30" name="Shape 24"/>
          <p:cNvSpPr/>
          <p:nvPr/>
        </p:nvSpPr>
        <p:spPr>
          <a:xfrm rot="5400000">
            <a:off x="9418320" y="2231136"/>
            <a:ext cx="274320" cy="201168"/>
          </a:xfrm>
          <a:prstGeom prst="triangle">
            <a:avLst/>
          </a:prstGeom>
          <a:solidFill>
            <a:schemeClr val="accent2"/>
          </a:solidFill>
          <a:ln w="12700">
            <a:solidFill>
              <a:schemeClr val="accent2"/>
            </a:solidFill>
            <a:prstDash val="solid"/>
          </a:ln>
        </p:spPr>
      </p:sp>
      <p:sp>
        <p:nvSpPr>
          <p:cNvPr id="31" name="step-4"/>
          <p:cNvSpPr/>
          <p:nvPr/>
        </p:nvSpPr>
        <p:spPr>
          <a:xfrm>
            <a:off x="9692640" y="1417320"/>
            <a:ext cx="2011680" cy="1828800"/>
          </a:xfrm>
          <a:prstGeom prst="roundRect">
            <a:avLst>
              <a:gd name="adj" fmla="val 6000"/>
            </a:avLst>
          </a:prstGeom>
          <a:solidFill>
            <a:schemeClr val="bg2"/>
          </a:solidFill>
          <a:ln w="12700">
            <a:solidFill>
              <a:schemeClr val="bg2"/>
            </a:solidFill>
            <a:prstDash val="solid"/>
          </a:ln>
        </p:spPr>
      </p:sp>
      <p:sp>
        <p:nvSpPr>
          <p:cNvPr id="32" name="Shape 26"/>
          <p:cNvSpPr/>
          <p:nvPr/>
        </p:nvSpPr>
        <p:spPr>
          <a:xfrm>
            <a:off x="9875520" y="1600200"/>
            <a:ext cx="640080" cy="640080"/>
          </a:xfrm>
          <a:prstGeom prst="ellipse">
            <a:avLst/>
          </a:prstGeom>
          <a:solidFill>
            <a:schemeClr val="accent1"/>
          </a:solidFill>
          <a:ln w="12700">
            <a:solidFill>
              <a:schemeClr val="accent1"/>
            </a:solidFill>
            <a:prstDash val="solid"/>
          </a:ln>
        </p:spPr>
      </p:sp>
      <p:pic>
        <p:nvPicPr>
          <p:cNvPr id="33" name="Image 4" descr="preencoded.png">    </p:cNvPr>
          <p:cNvPicPr>
            <a:picLocks noChangeAspect="1"/>
          </p:cNvPicPr>
          <p:nvPr/>
        </p:nvPicPr>
        <p:blipFill>
          <a:blip r:embed="rId5"/>
          <a:stretch>
            <a:fillRect/>
          </a:stretch>
        </p:blipFill>
        <p:spPr>
          <a:xfrm>
            <a:off x="10035540" y="1760220"/>
            <a:ext cx="320040" cy="320040"/>
          </a:xfrm>
          <a:prstGeom prst="rect">
            <a:avLst/>
          </a:prstGeom>
        </p:spPr>
      </p:pic>
      <p:sp>
        <p:nvSpPr>
          <p:cNvPr id="34" name="Text 27"/>
          <p:cNvSpPr txBox="1"/>
          <p:nvPr/>
        </p:nvSpPr>
        <p:spPr>
          <a:xfrm>
            <a:off x="11155680" y="164592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5</a:t>
            </a:r>
            <a:endParaRPr lang="en-US" sz="1400" dirty="0"/>
          </a:p>
        </p:txBody>
      </p:sp>
      <p:sp>
        <p:nvSpPr>
          <p:cNvPr id="35" name="Text 28"/>
          <p:cNvSpPr txBox="1"/>
          <p:nvPr/>
        </p:nvSpPr>
        <p:spPr>
          <a:xfrm>
            <a:off x="9875520" y="2331720"/>
            <a:ext cx="1737360" cy="365760"/>
          </a:xfrm>
          <a:prstGeom prst="rect">
            <a:avLst/>
          </a:prstGeom>
          <a:noFill/>
          <a:ln/>
        </p:spPr>
        <p:txBody>
          <a:bodyPr wrap="square" lIns="0" tIns="0" rIns="0" bIns="0" rtlCol="0" anchor="t"/>
          <a:lstStyle/>
          <a:p>
            <a:pPr indent="0" marL="0">
              <a:buNone/>
            </a:pPr>
            <a:r>
              <a:rPr lang="en-US" sz="1700" b="1" dirty="0">
                <a:solidFill>
                  <a:schemeClr val="tx1"/>
                </a:solidFill>
              </a:rPr>
              <a:t>Sell</a:t>
            </a:r>
            <a:endParaRPr lang="en-US" sz="1700" dirty="0"/>
          </a:p>
        </p:txBody>
      </p:sp>
      <p:sp>
        <p:nvSpPr>
          <p:cNvPr id="36" name="Text 29"/>
          <p:cNvSpPr txBox="1"/>
          <p:nvPr/>
        </p:nvSpPr>
        <p:spPr>
          <a:xfrm>
            <a:off x="9875520" y="269748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Quote to sales order</a:t>
            </a:r>
            <a:endParaRPr lang="en-US" sz="1300" dirty="0"/>
          </a:p>
        </p:txBody>
      </p:sp>
      <p:sp>
        <p:nvSpPr>
          <p:cNvPr id="37" name="step-5"/>
          <p:cNvSpPr/>
          <p:nvPr/>
        </p:nvSpPr>
        <p:spPr>
          <a:xfrm>
            <a:off x="548640" y="3657600"/>
            <a:ext cx="2011680" cy="1828800"/>
          </a:xfrm>
          <a:prstGeom prst="roundRect">
            <a:avLst>
              <a:gd name="adj" fmla="val 6000"/>
            </a:avLst>
          </a:prstGeom>
          <a:solidFill>
            <a:schemeClr val="bg2"/>
          </a:solidFill>
          <a:ln w="12700">
            <a:solidFill>
              <a:schemeClr val="bg2"/>
            </a:solidFill>
            <a:prstDash val="solid"/>
          </a:ln>
        </p:spPr>
      </p:sp>
      <p:sp>
        <p:nvSpPr>
          <p:cNvPr id="38" name="Shape 31"/>
          <p:cNvSpPr/>
          <p:nvPr/>
        </p:nvSpPr>
        <p:spPr>
          <a:xfrm>
            <a:off x="731520" y="3840480"/>
            <a:ext cx="640080" cy="640080"/>
          </a:xfrm>
          <a:prstGeom prst="ellipse">
            <a:avLst/>
          </a:prstGeom>
          <a:solidFill>
            <a:schemeClr val="accent3"/>
          </a:solidFill>
          <a:ln w="12700">
            <a:solidFill>
              <a:schemeClr val="accent3"/>
            </a:solidFill>
            <a:prstDash val="solid"/>
          </a:ln>
        </p:spPr>
      </p:sp>
      <p:pic>
        <p:nvPicPr>
          <p:cNvPr id="39" name="Image 5" descr="preencoded.png">    </p:cNvPr>
          <p:cNvPicPr>
            <a:picLocks noChangeAspect="1"/>
          </p:cNvPicPr>
          <p:nvPr/>
        </p:nvPicPr>
        <p:blipFill>
          <a:blip r:embed="rId6"/>
          <a:stretch>
            <a:fillRect/>
          </a:stretch>
        </p:blipFill>
        <p:spPr>
          <a:xfrm>
            <a:off x="891540" y="4000500"/>
            <a:ext cx="320040" cy="320040"/>
          </a:xfrm>
          <a:prstGeom prst="rect">
            <a:avLst/>
          </a:prstGeom>
        </p:spPr>
      </p:pic>
      <p:sp>
        <p:nvSpPr>
          <p:cNvPr id="40" name="Text 32"/>
          <p:cNvSpPr txBox="1"/>
          <p:nvPr/>
        </p:nvSpPr>
        <p:spPr>
          <a:xfrm>
            <a:off x="2011680" y="388620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6</a:t>
            </a:r>
            <a:endParaRPr lang="en-US" sz="1400" dirty="0"/>
          </a:p>
        </p:txBody>
      </p:sp>
      <p:sp>
        <p:nvSpPr>
          <p:cNvPr id="41" name="Text 33"/>
          <p:cNvSpPr txBox="1"/>
          <p:nvPr/>
        </p:nvSpPr>
        <p:spPr>
          <a:xfrm>
            <a:off x="731520" y="4572000"/>
            <a:ext cx="1737360" cy="365760"/>
          </a:xfrm>
          <a:prstGeom prst="rect">
            <a:avLst/>
          </a:prstGeom>
          <a:noFill/>
          <a:ln/>
        </p:spPr>
        <p:txBody>
          <a:bodyPr wrap="square" lIns="0" tIns="0" rIns="0" bIns="0" rtlCol="0" anchor="t"/>
          <a:lstStyle/>
          <a:p>
            <a:pPr indent="0" marL="0">
              <a:buNone/>
            </a:pPr>
            <a:r>
              <a:rPr lang="en-US" sz="1700" b="1" dirty="0">
                <a:solidFill>
                  <a:schemeClr val="tx1"/>
                </a:solidFill>
              </a:rPr>
              <a:t>Confirm</a:t>
            </a:r>
            <a:endParaRPr lang="en-US" sz="1700" dirty="0"/>
          </a:p>
        </p:txBody>
      </p:sp>
      <p:sp>
        <p:nvSpPr>
          <p:cNvPr id="42" name="Text 34"/>
          <p:cNvSpPr txBox="1"/>
          <p:nvPr/>
        </p:nvSpPr>
        <p:spPr>
          <a:xfrm>
            <a:off x="731520" y="493776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If over credit limit</a:t>
            </a:r>
            <a:endParaRPr lang="en-US" sz="1300" dirty="0"/>
          </a:p>
        </p:txBody>
      </p:sp>
      <p:sp>
        <p:nvSpPr>
          <p:cNvPr id="43" name="Shape 35"/>
          <p:cNvSpPr/>
          <p:nvPr/>
        </p:nvSpPr>
        <p:spPr>
          <a:xfrm rot="5400000">
            <a:off x="2560320" y="4471416"/>
            <a:ext cx="274320" cy="201168"/>
          </a:xfrm>
          <a:prstGeom prst="triangle">
            <a:avLst/>
          </a:prstGeom>
          <a:solidFill>
            <a:schemeClr val="accent2"/>
          </a:solidFill>
          <a:ln w="12700">
            <a:solidFill>
              <a:schemeClr val="accent2"/>
            </a:solidFill>
            <a:prstDash val="solid"/>
          </a:ln>
        </p:spPr>
      </p:sp>
      <p:sp>
        <p:nvSpPr>
          <p:cNvPr id="44" name="step-6"/>
          <p:cNvSpPr/>
          <p:nvPr/>
        </p:nvSpPr>
        <p:spPr>
          <a:xfrm>
            <a:off x="2834640" y="3657600"/>
            <a:ext cx="2011680" cy="1828800"/>
          </a:xfrm>
          <a:prstGeom prst="roundRect">
            <a:avLst>
              <a:gd name="adj" fmla="val 6000"/>
            </a:avLst>
          </a:prstGeom>
          <a:solidFill>
            <a:schemeClr val="bg2"/>
          </a:solidFill>
          <a:ln w="12700">
            <a:solidFill>
              <a:schemeClr val="bg2"/>
            </a:solidFill>
            <a:prstDash val="solid"/>
          </a:ln>
        </p:spPr>
      </p:sp>
      <p:sp>
        <p:nvSpPr>
          <p:cNvPr id="45" name="Shape 37"/>
          <p:cNvSpPr/>
          <p:nvPr/>
        </p:nvSpPr>
        <p:spPr>
          <a:xfrm>
            <a:off x="3017520" y="3840480"/>
            <a:ext cx="640080" cy="640080"/>
          </a:xfrm>
          <a:prstGeom prst="ellipse">
            <a:avLst/>
          </a:prstGeom>
          <a:solidFill>
            <a:schemeClr val="accent3"/>
          </a:solidFill>
          <a:ln w="12700">
            <a:solidFill>
              <a:schemeClr val="accent3"/>
            </a:solidFill>
            <a:prstDash val="solid"/>
          </a:ln>
        </p:spPr>
      </p:sp>
      <p:pic>
        <p:nvPicPr>
          <p:cNvPr id="46" name="Image 6" descr="preencoded.png">    </p:cNvPr>
          <p:cNvPicPr>
            <a:picLocks noChangeAspect="1"/>
          </p:cNvPicPr>
          <p:nvPr/>
        </p:nvPicPr>
        <p:blipFill>
          <a:blip r:embed="rId7"/>
          <a:stretch>
            <a:fillRect/>
          </a:stretch>
        </p:blipFill>
        <p:spPr>
          <a:xfrm>
            <a:off x="3177540" y="4000500"/>
            <a:ext cx="320040" cy="320040"/>
          </a:xfrm>
          <a:prstGeom prst="rect">
            <a:avLst/>
          </a:prstGeom>
        </p:spPr>
      </p:pic>
      <p:sp>
        <p:nvSpPr>
          <p:cNvPr id="47" name="Text 38"/>
          <p:cNvSpPr txBox="1"/>
          <p:nvPr/>
        </p:nvSpPr>
        <p:spPr>
          <a:xfrm>
            <a:off x="4297680" y="388620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7</a:t>
            </a:r>
            <a:endParaRPr lang="en-US" sz="1400" dirty="0"/>
          </a:p>
        </p:txBody>
      </p:sp>
      <p:sp>
        <p:nvSpPr>
          <p:cNvPr id="48" name="Text 39"/>
          <p:cNvSpPr txBox="1"/>
          <p:nvPr/>
        </p:nvSpPr>
        <p:spPr>
          <a:xfrm>
            <a:off x="3017520" y="4572000"/>
            <a:ext cx="1737360" cy="365760"/>
          </a:xfrm>
          <a:prstGeom prst="rect">
            <a:avLst/>
          </a:prstGeom>
          <a:noFill/>
          <a:ln/>
        </p:spPr>
        <p:txBody>
          <a:bodyPr wrap="square" lIns="0" tIns="0" rIns="0" bIns="0" rtlCol="0" anchor="t"/>
          <a:lstStyle/>
          <a:p>
            <a:pPr indent="0" marL="0">
              <a:buNone/>
            </a:pPr>
            <a:r>
              <a:rPr lang="en-US" sz="1700" b="1" dirty="0">
                <a:solidFill>
                  <a:schemeClr val="tx1"/>
                </a:solidFill>
              </a:rPr>
              <a:t>Pick, pack, ship</a:t>
            </a:r>
            <a:endParaRPr lang="en-US" sz="1700" dirty="0"/>
          </a:p>
        </p:txBody>
      </p:sp>
      <p:sp>
        <p:nvSpPr>
          <p:cNvPr id="49" name="Text 40"/>
          <p:cNvSpPr txBox="1"/>
          <p:nvPr/>
        </p:nvSpPr>
        <p:spPr>
          <a:xfrm>
            <a:off x="3017520" y="493776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Partial = back order</a:t>
            </a:r>
            <a:endParaRPr lang="en-US" sz="1300" dirty="0"/>
          </a:p>
        </p:txBody>
      </p:sp>
      <p:sp>
        <p:nvSpPr>
          <p:cNvPr id="50" name="Shape 41"/>
          <p:cNvSpPr/>
          <p:nvPr/>
        </p:nvSpPr>
        <p:spPr>
          <a:xfrm rot="5400000">
            <a:off x="4846320" y="4471416"/>
            <a:ext cx="274320" cy="201168"/>
          </a:xfrm>
          <a:prstGeom prst="triangle">
            <a:avLst/>
          </a:prstGeom>
          <a:solidFill>
            <a:schemeClr val="accent2"/>
          </a:solidFill>
          <a:ln w="12700">
            <a:solidFill>
              <a:schemeClr val="accent2"/>
            </a:solidFill>
            <a:prstDash val="solid"/>
          </a:ln>
        </p:spPr>
      </p:sp>
      <p:sp>
        <p:nvSpPr>
          <p:cNvPr id="51" name="step-7"/>
          <p:cNvSpPr/>
          <p:nvPr/>
        </p:nvSpPr>
        <p:spPr>
          <a:xfrm>
            <a:off x="5120640" y="3657600"/>
            <a:ext cx="2011680" cy="1828800"/>
          </a:xfrm>
          <a:prstGeom prst="roundRect">
            <a:avLst>
              <a:gd name="adj" fmla="val 6000"/>
            </a:avLst>
          </a:prstGeom>
          <a:solidFill>
            <a:schemeClr val="bg2"/>
          </a:solidFill>
          <a:ln w="12700">
            <a:solidFill>
              <a:schemeClr val="bg2"/>
            </a:solidFill>
            <a:prstDash val="solid"/>
          </a:ln>
        </p:spPr>
      </p:sp>
      <p:sp>
        <p:nvSpPr>
          <p:cNvPr id="52" name="Shape 43"/>
          <p:cNvSpPr/>
          <p:nvPr/>
        </p:nvSpPr>
        <p:spPr>
          <a:xfrm>
            <a:off x="5303520" y="3840480"/>
            <a:ext cx="640080" cy="640080"/>
          </a:xfrm>
          <a:prstGeom prst="ellipse">
            <a:avLst/>
          </a:prstGeom>
          <a:solidFill>
            <a:schemeClr val="accent3"/>
          </a:solidFill>
          <a:ln w="12700">
            <a:solidFill>
              <a:schemeClr val="accent3"/>
            </a:solidFill>
            <a:prstDash val="solid"/>
          </a:ln>
        </p:spPr>
      </p:sp>
      <p:pic>
        <p:nvPicPr>
          <p:cNvPr id="53" name="Image 7" descr="preencoded.png">    </p:cNvPr>
          <p:cNvPicPr>
            <a:picLocks noChangeAspect="1"/>
          </p:cNvPicPr>
          <p:nvPr/>
        </p:nvPicPr>
        <p:blipFill>
          <a:blip r:embed="rId8"/>
          <a:stretch>
            <a:fillRect/>
          </a:stretch>
        </p:blipFill>
        <p:spPr>
          <a:xfrm>
            <a:off x="5463540" y="4000500"/>
            <a:ext cx="320040" cy="320040"/>
          </a:xfrm>
          <a:prstGeom prst="rect">
            <a:avLst/>
          </a:prstGeom>
        </p:spPr>
      </p:pic>
      <p:sp>
        <p:nvSpPr>
          <p:cNvPr id="54" name="Text 44"/>
          <p:cNvSpPr txBox="1"/>
          <p:nvPr/>
        </p:nvSpPr>
        <p:spPr>
          <a:xfrm>
            <a:off x="6583680" y="388620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8</a:t>
            </a:r>
            <a:endParaRPr lang="en-US" sz="1400" dirty="0"/>
          </a:p>
        </p:txBody>
      </p:sp>
      <p:sp>
        <p:nvSpPr>
          <p:cNvPr id="55" name="Text 45"/>
          <p:cNvSpPr txBox="1"/>
          <p:nvPr/>
        </p:nvSpPr>
        <p:spPr>
          <a:xfrm>
            <a:off x="5303520" y="4572000"/>
            <a:ext cx="1737360" cy="365760"/>
          </a:xfrm>
          <a:prstGeom prst="rect">
            <a:avLst/>
          </a:prstGeom>
          <a:noFill/>
          <a:ln/>
        </p:spPr>
        <p:txBody>
          <a:bodyPr wrap="square" lIns="0" tIns="0" rIns="0" bIns="0" rtlCol="0" anchor="t"/>
          <a:lstStyle/>
          <a:p>
            <a:pPr indent="0" marL="0">
              <a:buNone/>
            </a:pPr>
            <a:r>
              <a:rPr lang="en-US" sz="1700" b="1" dirty="0">
                <a:solidFill>
                  <a:schemeClr val="tx1"/>
                </a:solidFill>
              </a:rPr>
              <a:t>Invoice</a:t>
            </a:r>
            <a:endParaRPr lang="en-US" sz="1700" dirty="0"/>
          </a:p>
        </p:txBody>
      </p:sp>
      <p:sp>
        <p:nvSpPr>
          <p:cNvPr id="56" name="Text 46"/>
          <p:cNvSpPr txBox="1"/>
          <p:nvPr/>
        </p:nvSpPr>
        <p:spPr>
          <a:xfrm>
            <a:off x="5303520" y="493776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Invoice today</a:t>
            </a:r>
            <a:endParaRPr lang="en-US" sz="1300" dirty="0"/>
          </a:p>
        </p:txBody>
      </p:sp>
      <p:sp>
        <p:nvSpPr>
          <p:cNvPr id="57" name="Shape 47"/>
          <p:cNvSpPr/>
          <p:nvPr/>
        </p:nvSpPr>
        <p:spPr>
          <a:xfrm rot="5400000">
            <a:off x="7132320" y="4471416"/>
            <a:ext cx="274320" cy="201168"/>
          </a:xfrm>
          <a:prstGeom prst="triangle">
            <a:avLst/>
          </a:prstGeom>
          <a:solidFill>
            <a:schemeClr val="accent2"/>
          </a:solidFill>
          <a:ln w="12700">
            <a:solidFill>
              <a:schemeClr val="accent2"/>
            </a:solidFill>
            <a:prstDash val="solid"/>
          </a:ln>
        </p:spPr>
      </p:sp>
      <p:sp>
        <p:nvSpPr>
          <p:cNvPr id="58" name="step-8"/>
          <p:cNvSpPr/>
          <p:nvPr/>
        </p:nvSpPr>
        <p:spPr>
          <a:xfrm>
            <a:off x="7406640" y="3657600"/>
            <a:ext cx="2011680" cy="1828800"/>
          </a:xfrm>
          <a:prstGeom prst="roundRect">
            <a:avLst>
              <a:gd name="adj" fmla="val 6000"/>
            </a:avLst>
          </a:prstGeom>
          <a:solidFill>
            <a:schemeClr val="bg2"/>
          </a:solidFill>
          <a:ln w="12700">
            <a:solidFill>
              <a:schemeClr val="bg2"/>
            </a:solidFill>
            <a:prstDash val="solid"/>
          </a:ln>
        </p:spPr>
      </p:sp>
      <p:sp>
        <p:nvSpPr>
          <p:cNvPr id="59" name="Shape 49"/>
          <p:cNvSpPr/>
          <p:nvPr/>
        </p:nvSpPr>
        <p:spPr>
          <a:xfrm>
            <a:off x="7589520" y="3840480"/>
            <a:ext cx="640080" cy="640080"/>
          </a:xfrm>
          <a:prstGeom prst="ellipse">
            <a:avLst/>
          </a:prstGeom>
          <a:solidFill>
            <a:schemeClr val="accent3"/>
          </a:solidFill>
          <a:ln w="12700">
            <a:solidFill>
              <a:schemeClr val="accent3"/>
            </a:solidFill>
            <a:prstDash val="solid"/>
          </a:ln>
        </p:spPr>
      </p:sp>
      <p:pic>
        <p:nvPicPr>
          <p:cNvPr id="60" name="Image 8" descr="preencoded.png">    </p:cNvPr>
          <p:cNvPicPr>
            <a:picLocks noChangeAspect="1"/>
          </p:cNvPicPr>
          <p:nvPr/>
        </p:nvPicPr>
        <p:blipFill>
          <a:blip r:embed="rId9"/>
          <a:stretch>
            <a:fillRect/>
          </a:stretch>
        </p:blipFill>
        <p:spPr>
          <a:xfrm>
            <a:off x="7749540" y="4000500"/>
            <a:ext cx="320040" cy="320040"/>
          </a:xfrm>
          <a:prstGeom prst="rect">
            <a:avLst/>
          </a:prstGeom>
        </p:spPr>
      </p:pic>
      <p:sp>
        <p:nvSpPr>
          <p:cNvPr id="61" name="Text 50"/>
          <p:cNvSpPr txBox="1"/>
          <p:nvPr/>
        </p:nvSpPr>
        <p:spPr>
          <a:xfrm>
            <a:off x="8869680" y="388620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9</a:t>
            </a:r>
            <a:endParaRPr lang="en-US" sz="1400" dirty="0"/>
          </a:p>
        </p:txBody>
      </p:sp>
      <p:sp>
        <p:nvSpPr>
          <p:cNvPr id="62" name="Text 51"/>
          <p:cNvSpPr txBox="1"/>
          <p:nvPr/>
        </p:nvSpPr>
        <p:spPr>
          <a:xfrm>
            <a:off x="7589520" y="4572000"/>
            <a:ext cx="1737360" cy="365760"/>
          </a:xfrm>
          <a:prstGeom prst="rect">
            <a:avLst/>
          </a:prstGeom>
          <a:noFill/>
          <a:ln/>
        </p:spPr>
        <p:txBody>
          <a:bodyPr wrap="square" lIns="0" tIns="0" rIns="0" bIns="0" rtlCol="0" anchor="t"/>
          <a:lstStyle/>
          <a:p>
            <a:pPr indent="0" marL="0">
              <a:buNone/>
            </a:pPr>
            <a:r>
              <a:rPr lang="en-US" sz="1700" b="1" dirty="0">
                <a:solidFill>
                  <a:schemeClr val="tx1"/>
                </a:solidFill>
              </a:rPr>
              <a:t>Get paid</a:t>
            </a:r>
            <a:endParaRPr lang="en-US" sz="1700" dirty="0"/>
          </a:p>
        </p:txBody>
      </p:sp>
      <p:sp>
        <p:nvSpPr>
          <p:cNvPr id="63" name="Text 52"/>
          <p:cNvSpPr txBox="1"/>
          <p:nvPr/>
        </p:nvSpPr>
        <p:spPr>
          <a:xfrm>
            <a:off x="7589520" y="493776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One payment, many orders</a:t>
            </a:r>
            <a:endParaRPr lang="en-US" sz="1300" dirty="0"/>
          </a:p>
        </p:txBody>
      </p:sp>
      <p:sp>
        <p:nvSpPr>
          <p:cNvPr id="64" name="Shape 53"/>
          <p:cNvSpPr/>
          <p:nvPr/>
        </p:nvSpPr>
        <p:spPr>
          <a:xfrm rot="5400000">
            <a:off x="9418320" y="4471416"/>
            <a:ext cx="274320" cy="201168"/>
          </a:xfrm>
          <a:prstGeom prst="triangle">
            <a:avLst/>
          </a:prstGeom>
          <a:solidFill>
            <a:schemeClr val="accent2"/>
          </a:solidFill>
          <a:ln w="12700">
            <a:solidFill>
              <a:schemeClr val="accent2"/>
            </a:solidFill>
            <a:prstDash val="solid"/>
          </a:ln>
        </p:spPr>
      </p:sp>
      <p:sp>
        <p:nvSpPr>
          <p:cNvPr id="65" name="step-9"/>
          <p:cNvSpPr/>
          <p:nvPr/>
        </p:nvSpPr>
        <p:spPr>
          <a:xfrm>
            <a:off x="9692640" y="3657600"/>
            <a:ext cx="2011680" cy="1828800"/>
          </a:xfrm>
          <a:prstGeom prst="roundRect">
            <a:avLst>
              <a:gd name="adj" fmla="val 6000"/>
            </a:avLst>
          </a:prstGeom>
          <a:solidFill>
            <a:schemeClr val="bg2"/>
          </a:solidFill>
          <a:ln w="12700">
            <a:solidFill>
              <a:schemeClr val="bg2"/>
            </a:solidFill>
            <a:prstDash val="solid"/>
          </a:ln>
        </p:spPr>
      </p:sp>
      <p:sp>
        <p:nvSpPr>
          <p:cNvPr id="66" name="Shape 55"/>
          <p:cNvSpPr/>
          <p:nvPr/>
        </p:nvSpPr>
        <p:spPr>
          <a:xfrm>
            <a:off x="9875520" y="3840480"/>
            <a:ext cx="640080" cy="640080"/>
          </a:xfrm>
          <a:prstGeom prst="ellipse">
            <a:avLst/>
          </a:prstGeom>
          <a:solidFill>
            <a:schemeClr val="accent3"/>
          </a:solidFill>
          <a:ln w="12700">
            <a:solidFill>
              <a:schemeClr val="accent3"/>
            </a:solidFill>
            <a:prstDash val="solid"/>
          </a:ln>
        </p:spPr>
      </p:sp>
      <p:pic>
        <p:nvPicPr>
          <p:cNvPr id="67" name="Image 9" descr="preencoded.png">    </p:cNvPr>
          <p:cNvPicPr>
            <a:picLocks noChangeAspect="1"/>
          </p:cNvPicPr>
          <p:nvPr/>
        </p:nvPicPr>
        <p:blipFill>
          <a:blip r:embed="rId10"/>
          <a:stretch>
            <a:fillRect/>
          </a:stretch>
        </p:blipFill>
        <p:spPr>
          <a:xfrm>
            <a:off x="10035540" y="4000500"/>
            <a:ext cx="320040" cy="320040"/>
          </a:xfrm>
          <a:prstGeom prst="rect">
            <a:avLst/>
          </a:prstGeom>
        </p:spPr>
      </p:pic>
      <p:sp>
        <p:nvSpPr>
          <p:cNvPr id="68" name="Text 56"/>
          <p:cNvSpPr txBox="1"/>
          <p:nvPr/>
        </p:nvSpPr>
        <p:spPr>
          <a:xfrm>
            <a:off x="11155680" y="3886200"/>
            <a:ext cx="365760" cy="365760"/>
          </a:xfrm>
          <a:prstGeom prst="rect">
            <a:avLst/>
          </a:prstGeom>
          <a:noFill/>
          <a:ln/>
        </p:spPr>
        <p:txBody>
          <a:bodyPr wrap="square" lIns="0" tIns="0" rIns="0" bIns="0" rtlCol="0" anchor="t"/>
          <a:lstStyle/>
          <a:p>
            <a:pPr algn="r" indent="0" marL="0">
              <a:buNone/>
            </a:pPr>
            <a:r>
              <a:rPr lang="en-US" sz="1400" b="1" dirty="0">
                <a:solidFill>
                  <a:schemeClr val="accent5"/>
                </a:solidFill>
              </a:rPr>
              <a:t>10</a:t>
            </a:r>
            <a:endParaRPr lang="en-US" sz="1400" dirty="0"/>
          </a:p>
        </p:txBody>
      </p:sp>
      <p:sp>
        <p:nvSpPr>
          <p:cNvPr id="69" name="Text 57"/>
          <p:cNvSpPr txBox="1"/>
          <p:nvPr/>
        </p:nvSpPr>
        <p:spPr>
          <a:xfrm>
            <a:off x="9875520" y="4572000"/>
            <a:ext cx="1737360" cy="365760"/>
          </a:xfrm>
          <a:prstGeom prst="rect">
            <a:avLst/>
          </a:prstGeom>
          <a:noFill/>
          <a:ln/>
        </p:spPr>
        <p:txBody>
          <a:bodyPr wrap="square" lIns="0" tIns="0" rIns="0" bIns="0" rtlCol="0" anchor="t"/>
          <a:lstStyle/>
          <a:p>
            <a:pPr indent="0" marL="0">
              <a:buNone/>
            </a:pPr>
            <a:r>
              <a:rPr lang="en-US" sz="1700" b="1" dirty="0">
                <a:solidFill>
                  <a:schemeClr val="tx1"/>
                </a:solidFill>
              </a:rPr>
              <a:t>Reports</a:t>
            </a:r>
            <a:endParaRPr lang="en-US" sz="1700" dirty="0"/>
          </a:p>
        </p:txBody>
      </p:sp>
      <p:sp>
        <p:nvSpPr>
          <p:cNvPr id="70" name="Text 58"/>
          <p:cNvSpPr txBox="1"/>
          <p:nvPr/>
        </p:nvSpPr>
        <p:spPr>
          <a:xfrm>
            <a:off x="9875520" y="4937760"/>
            <a:ext cx="1737360" cy="457200"/>
          </a:xfrm>
          <a:prstGeom prst="rect">
            <a:avLst/>
          </a:prstGeom>
          <a:noFill/>
          <a:ln/>
        </p:spPr>
        <p:txBody>
          <a:bodyPr wrap="square" lIns="0" tIns="0" rIns="0" bIns="0" rtlCol="0" anchor="t"/>
          <a:lstStyle/>
          <a:p>
            <a:pPr indent="0" marL="0">
              <a:buNone/>
            </a:pPr>
            <a:r>
              <a:rPr lang="en-US" sz="1300" dirty="0">
                <a:solidFill>
                  <a:schemeClr val="accent5"/>
                </a:solidFill>
              </a:rPr>
              <a:t>Profit, value, aging</a:t>
            </a:r>
            <a:endParaRPr lang="en-US" sz="1300" dirty="0"/>
          </a:p>
        </p:txBody>
      </p:sp>
      <p:sp>
        <p:nvSpPr>
          <p:cNvPr id="71" name="Shape 59"/>
          <p:cNvSpPr/>
          <p:nvPr/>
        </p:nvSpPr>
        <p:spPr>
          <a:xfrm>
            <a:off x="548640" y="5760720"/>
            <a:ext cx="11064240" cy="502920"/>
          </a:xfrm>
          <a:prstGeom prst="roundRect">
            <a:avLst>
              <a:gd name="adj" fmla="val 21818"/>
            </a:avLst>
          </a:prstGeom>
          <a:solidFill>
            <a:schemeClr val="bg1"/>
          </a:solidFill>
          <a:ln w="12700">
            <a:solidFill>
              <a:schemeClr val="accent2"/>
            </a:solidFill>
            <a:prstDash val="solid"/>
          </a:ln>
        </p:spPr>
      </p:sp>
      <p:sp>
        <p:nvSpPr>
          <p:cNvPr id="72" name="Text 60"/>
          <p:cNvSpPr txBox="1"/>
          <p:nvPr/>
        </p:nvSpPr>
        <p:spPr>
          <a:xfrm>
            <a:off x="777240" y="5760720"/>
            <a:ext cx="10698480" cy="502920"/>
          </a:xfrm>
          <a:prstGeom prst="rect">
            <a:avLst/>
          </a:prstGeom>
          <a:noFill/>
          <a:ln/>
        </p:spPr>
        <p:txBody>
          <a:bodyPr wrap="square" lIns="0" tIns="0" rIns="0" bIns="0" rtlCol="0" anchor="ctr"/>
          <a:lstStyle/>
          <a:p>
            <a:pPr indent="0" marL="0">
              <a:buNone/>
            </a:pPr>
            <a:r>
              <a:rPr lang="en-US" sz="1400" b="1" dirty="0">
                <a:solidFill>
                  <a:schemeClr val="accent2"/>
                </a:solidFill>
              </a:rPr>
              <a:t>Loop: </a:t>
            </a:r>
            <a:pPr indent="0" marL="0">
              <a:buNone/>
            </a:pPr>
            <a:r>
              <a:rPr lang="en-US" sz="1400" dirty="0">
                <a:solidFill>
                  <a:schemeClr val="tx1"/>
                </a:solidFill>
              </a:rPr>
              <a:t>when anticipated stock falls below the reorder point, Reordering drafts the next purchase order in one click.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Seven roles, each sees only their job</a:t>
            </a:r>
            <a:endParaRPr lang="en-US" sz="3600" dirty="0"/>
          </a:p>
        </p:txBody>
      </p:sp>
      <p:sp>
        <p:nvSpPr>
          <p:cNvPr id="3" name="role-0"/>
          <p:cNvSpPr/>
          <p:nvPr/>
        </p:nvSpPr>
        <p:spPr>
          <a:xfrm>
            <a:off x="548640" y="137160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4" name="Shape 2"/>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64592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Admin</a:t>
            </a:r>
            <a:endParaRPr lang="en-US" sz="1800" dirty="0"/>
          </a:p>
        </p:txBody>
      </p:sp>
      <p:sp>
        <p:nvSpPr>
          <p:cNvPr id="7" name="Text 4"/>
          <p:cNvSpPr txBox="1"/>
          <p:nvPr/>
        </p:nvSpPr>
        <p:spPr>
          <a:xfrm>
            <a:off x="777240" y="23317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Everything, plus team, settings, locations, month close</a:t>
            </a:r>
            <a:endParaRPr lang="en-US" sz="1300" dirty="0"/>
          </a:p>
        </p:txBody>
      </p:sp>
      <p:sp>
        <p:nvSpPr>
          <p:cNvPr id="8" name="Shape 5"/>
          <p:cNvSpPr/>
          <p:nvPr/>
        </p:nvSpPr>
        <p:spPr>
          <a:xfrm>
            <a:off x="777240" y="3017520"/>
            <a:ext cx="1097280" cy="274320"/>
          </a:xfrm>
          <a:prstGeom prst="roundRect">
            <a:avLst>
              <a:gd name="adj" fmla="val 50000"/>
            </a:avLst>
          </a:prstGeom>
          <a:solidFill>
            <a:schemeClr val="accent2"/>
          </a:solidFill>
          <a:ln w="12700">
            <a:solidFill>
              <a:schemeClr val="accent2"/>
            </a:solidFill>
            <a:prstDash val="solid"/>
          </a:ln>
        </p:spPr>
      </p:sp>
      <p:sp>
        <p:nvSpPr>
          <p:cNvPr id="9" name="Text 6"/>
          <p:cNvSpPr txBox="1"/>
          <p:nvPr/>
        </p:nvSpPr>
        <p:spPr>
          <a:xfrm>
            <a:off x="777240" y="3017520"/>
            <a:ext cx="1097280" cy="274320"/>
          </a:xfrm>
          <a:prstGeom prst="rect">
            <a:avLst/>
          </a:prstGeom>
          <a:noFill/>
          <a:ln/>
        </p:spPr>
        <p:txBody>
          <a:bodyPr wrap="square" lIns="0" tIns="0" rIns="0" bIns="0" rtlCol="0" anchor="ctr"/>
          <a:lstStyle/>
          <a:p>
            <a:pPr algn="ctr" indent="0" marL="0">
              <a:buNone/>
            </a:pPr>
            <a:r>
              <a:rPr lang="en-US" sz="1100" b="1" dirty="0">
                <a:solidFill>
                  <a:schemeClr val="tx2"/>
                </a:solidFill>
              </a:rPr>
              <a:t>Sees cost</a:t>
            </a:r>
            <a:endParaRPr lang="en-US" sz="1100" dirty="0"/>
          </a:p>
        </p:txBody>
      </p:sp>
      <p:sp>
        <p:nvSpPr>
          <p:cNvPr id="10" name="role-1"/>
          <p:cNvSpPr/>
          <p:nvPr/>
        </p:nvSpPr>
        <p:spPr>
          <a:xfrm>
            <a:off x="3364992" y="137160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1" name="Shape 8"/>
          <p:cNvSpPr/>
          <p:nvPr/>
        </p:nvSpPr>
        <p:spPr>
          <a:xfrm>
            <a:off x="3593592" y="1600200"/>
            <a:ext cx="594360" cy="59436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742182" y="1748790"/>
            <a:ext cx="297180" cy="297180"/>
          </a:xfrm>
          <a:prstGeom prst="rect">
            <a:avLst/>
          </a:prstGeom>
        </p:spPr>
      </p:pic>
      <p:sp>
        <p:nvSpPr>
          <p:cNvPr id="13" name="Text 9"/>
          <p:cNvSpPr txBox="1"/>
          <p:nvPr/>
        </p:nvSpPr>
        <p:spPr>
          <a:xfrm>
            <a:off x="4325112" y="164592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Manager</a:t>
            </a:r>
            <a:endParaRPr lang="en-US" sz="1800" dirty="0"/>
          </a:p>
        </p:txBody>
      </p:sp>
      <p:sp>
        <p:nvSpPr>
          <p:cNvPr id="14" name="Text 10"/>
          <p:cNvSpPr txBox="1"/>
          <p:nvPr/>
        </p:nvSpPr>
        <p:spPr>
          <a:xfrm>
            <a:off x="3593592" y="23317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All but settings. Confirms orders, reviews counts</a:t>
            </a:r>
            <a:endParaRPr lang="en-US" sz="1300" dirty="0"/>
          </a:p>
        </p:txBody>
      </p:sp>
      <p:sp>
        <p:nvSpPr>
          <p:cNvPr id="15" name="Shape 11"/>
          <p:cNvSpPr/>
          <p:nvPr/>
        </p:nvSpPr>
        <p:spPr>
          <a:xfrm>
            <a:off x="3593592" y="3017520"/>
            <a:ext cx="1097280" cy="274320"/>
          </a:xfrm>
          <a:prstGeom prst="roundRect">
            <a:avLst>
              <a:gd name="adj" fmla="val 50000"/>
            </a:avLst>
          </a:prstGeom>
          <a:solidFill>
            <a:schemeClr val="accent2"/>
          </a:solidFill>
          <a:ln w="12700">
            <a:solidFill>
              <a:schemeClr val="accent2"/>
            </a:solidFill>
            <a:prstDash val="solid"/>
          </a:ln>
        </p:spPr>
      </p:sp>
      <p:sp>
        <p:nvSpPr>
          <p:cNvPr id="16" name="Text 12"/>
          <p:cNvSpPr txBox="1"/>
          <p:nvPr/>
        </p:nvSpPr>
        <p:spPr>
          <a:xfrm>
            <a:off x="3593592" y="3017520"/>
            <a:ext cx="1097280" cy="274320"/>
          </a:xfrm>
          <a:prstGeom prst="rect">
            <a:avLst/>
          </a:prstGeom>
          <a:noFill/>
          <a:ln/>
        </p:spPr>
        <p:txBody>
          <a:bodyPr wrap="square" lIns="0" tIns="0" rIns="0" bIns="0" rtlCol="0" anchor="ctr"/>
          <a:lstStyle/>
          <a:p>
            <a:pPr algn="ctr" indent="0" marL="0">
              <a:buNone/>
            </a:pPr>
            <a:r>
              <a:rPr lang="en-US" sz="1100" b="1" dirty="0">
                <a:solidFill>
                  <a:schemeClr val="tx2"/>
                </a:solidFill>
              </a:rPr>
              <a:t>Sees cost</a:t>
            </a:r>
            <a:endParaRPr lang="en-US" sz="1100" dirty="0"/>
          </a:p>
        </p:txBody>
      </p:sp>
      <p:sp>
        <p:nvSpPr>
          <p:cNvPr id="17" name="role-2"/>
          <p:cNvSpPr/>
          <p:nvPr/>
        </p:nvSpPr>
        <p:spPr>
          <a:xfrm>
            <a:off x="6181344" y="137160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8" name="Shape 14"/>
          <p:cNvSpPr/>
          <p:nvPr/>
        </p:nvSpPr>
        <p:spPr>
          <a:xfrm>
            <a:off x="6409944" y="1600200"/>
            <a:ext cx="594360" cy="59436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6558534" y="1748790"/>
            <a:ext cx="297180" cy="297180"/>
          </a:xfrm>
          <a:prstGeom prst="rect">
            <a:avLst/>
          </a:prstGeom>
        </p:spPr>
      </p:pic>
      <p:sp>
        <p:nvSpPr>
          <p:cNvPr id="20" name="Text 15"/>
          <p:cNvSpPr txBox="1"/>
          <p:nvPr/>
        </p:nvSpPr>
        <p:spPr>
          <a:xfrm>
            <a:off x="7141464" y="164592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Sales</a:t>
            </a:r>
            <a:endParaRPr lang="en-US" sz="1800" dirty="0"/>
          </a:p>
        </p:txBody>
      </p:sp>
      <p:sp>
        <p:nvSpPr>
          <p:cNvPr id="21" name="Text 16"/>
          <p:cNvSpPr txBox="1"/>
          <p:nvPr/>
        </p:nvSpPr>
        <p:spPr>
          <a:xfrm>
            <a:off x="6409944" y="23317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Customers, quotes, orders, payments, can ship</a:t>
            </a:r>
            <a:endParaRPr lang="en-US" sz="1300" dirty="0"/>
          </a:p>
        </p:txBody>
      </p:sp>
      <p:sp>
        <p:nvSpPr>
          <p:cNvPr id="22" name="role-3"/>
          <p:cNvSpPr/>
          <p:nvPr/>
        </p:nvSpPr>
        <p:spPr>
          <a:xfrm>
            <a:off x="8997696" y="137160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23" name="Shape 18"/>
          <p:cNvSpPr/>
          <p:nvPr/>
        </p:nvSpPr>
        <p:spPr>
          <a:xfrm>
            <a:off x="9226296" y="1600200"/>
            <a:ext cx="594360" cy="594360"/>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9374886" y="1748790"/>
            <a:ext cx="297180" cy="297180"/>
          </a:xfrm>
          <a:prstGeom prst="rect">
            <a:avLst/>
          </a:prstGeom>
        </p:spPr>
      </p:pic>
      <p:sp>
        <p:nvSpPr>
          <p:cNvPr id="25" name="Text 19"/>
          <p:cNvSpPr txBox="1"/>
          <p:nvPr/>
        </p:nvSpPr>
        <p:spPr>
          <a:xfrm>
            <a:off x="9957816" y="164592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Purchasing</a:t>
            </a:r>
            <a:endParaRPr lang="en-US" sz="1800" dirty="0"/>
          </a:p>
        </p:txBody>
      </p:sp>
      <p:sp>
        <p:nvSpPr>
          <p:cNvPr id="26" name="Text 20"/>
          <p:cNvSpPr txBox="1"/>
          <p:nvPr/>
        </p:nvSpPr>
        <p:spPr>
          <a:xfrm>
            <a:off x="9226296" y="23317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Vendors, POs, reordering, products. Gets low-stock emails</a:t>
            </a:r>
            <a:endParaRPr lang="en-US" sz="1300" dirty="0"/>
          </a:p>
        </p:txBody>
      </p:sp>
      <p:sp>
        <p:nvSpPr>
          <p:cNvPr id="27" name="Shape 21"/>
          <p:cNvSpPr/>
          <p:nvPr/>
        </p:nvSpPr>
        <p:spPr>
          <a:xfrm>
            <a:off x="9226296" y="3017520"/>
            <a:ext cx="1097280" cy="274320"/>
          </a:xfrm>
          <a:prstGeom prst="roundRect">
            <a:avLst>
              <a:gd name="adj" fmla="val 50000"/>
            </a:avLst>
          </a:prstGeom>
          <a:solidFill>
            <a:schemeClr val="accent2"/>
          </a:solidFill>
          <a:ln w="12700">
            <a:solidFill>
              <a:schemeClr val="accent2"/>
            </a:solidFill>
            <a:prstDash val="solid"/>
          </a:ln>
        </p:spPr>
      </p:sp>
      <p:sp>
        <p:nvSpPr>
          <p:cNvPr id="28" name="Text 22"/>
          <p:cNvSpPr txBox="1"/>
          <p:nvPr/>
        </p:nvSpPr>
        <p:spPr>
          <a:xfrm>
            <a:off x="9226296" y="3017520"/>
            <a:ext cx="1097280" cy="274320"/>
          </a:xfrm>
          <a:prstGeom prst="rect">
            <a:avLst/>
          </a:prstGeom>
          <a:noFill/>
          <a:ln/>
        </p:spPr>
        <p:txBody>
          <a:bodyPr wrap="square" lIns="0" tIns="0" rIns="0" bIns="0" rtlCol="0" anchor="ctr"/>
          <a:lstStyle/>
          <a:p>
            <a:pPr algn="ctr" indent="0" marL="0">
              <a:buNone/>
            </a:pPr>
            <a:r>
              <a:rPr lang="en-US" sz="1100" b="1" dirty="0">
                <a:solidFill>
                  <a:schemeClr val="tx2"/>
                </a:solidFill>
              </a:rPr>
              <a:t>Sees cost</a:t>
            </a:r>
            <a:endParaRPr lang="en-US" sz="1100" dirty="0"/>
          </a:p>
        </p:txBody>
      </p:sp>
      <p:sp>
        <p:nvSpPr>
          <p:cNvPr id="29" name="role-4"/>
          <p:cNvSpPr/>
          <p:nvPr/>
        </p:nvSpPr>
        <p:spPr>
          <a:xfrm>
            <a:off x="1956816" y="370332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30" name="Shape 24"/>
          <p:cNvSpPr/>
          <p:nvPr/>
        </p:nvSpPr>
        <p:spPr>
          <a:xfrm>
            <a:off x="2185416" y="3931920"/>
            <a:ext cx="594360" cy="594360"/>
          </a:xfrm>
          <a:prstGeom prst="ellipse">
            <a:avLst/>
          </a:prstGeom>
          <a:solidFill>
            <a:schemeClr val="accent1"/>
          </a:solidFill>
          <a:ln w="12700">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2334006" y="4080510"/>
            <a:ext cx="297180" cy="297180"/>
          </a:xfrm>
          <a:prstGeom prst="rect">
            <a:avLst/>
          </a:prstGeom>
        </p:spPr>
      </p:pic>
      <p:sp>
        <p:nvSpPr>
          <p:cNvPr id="32" name="Text 25"/>
          <p:cNvSpPr txBox="1"/>
          <p:nvPr/>
        </p:nvSpPr>
        <p:spPr>
          <a:xfrm>
            <a:off x="2916936" y="397764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Warehouse</a:t>
            </a:r>
            <a:endParaRPr lang="en-US" sz="1800" dirty="0"/>
          </a:p>
        </p:txBody>
      </p:sp>
      <p:sp>
        <p:nvSpPr>
          <p:cNvPr id="33" name="Text 26"/>
          <p:cNvSpPr txBox="1"/>
          <p:nvPr/>
        </p:nvSpPr>
        <p:spPr>
          <a:xfrm>
            <a:off x="2185416" y="466344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Pick, pack, ship, receive, adjust, transfer, count</a:t>
            </a:r>
            <a:endParaRPr lang="en-US" sz="1300" dirty="0"/>
          </a:p>
        </p:txBody>
      </p:sp>
      <p:sp>
        <p:nvSpPr>
          <p:cNvPr id="34" name="role-5"/>
          <p:cNvSpPr/>
          <p:nvPr/>
        </p:nvSpPr>
        <p:spPr>
          <a:xfrm>
            <a:off x="4773168" y="370332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35" name="Shape 28"/>
          <p:cNvSpPr/>
          <p:nvPr/>
        </p:nvSpPr>
        <p:spPr>
          <a:xfrm>
            <a:off x="5001768" y="3931920"/>
            <a:ext cx="594360" cy="594360"/>
          </a:xfrm>
          <a:prstGeom prst="ellipse">
            <a:avLst/>
          </a:prstGeom>
          <a:solidFill>
            <a:schemeClr val="accent1"/>
          </a:solidFill>
          <a:ln w="12700">
            <a:solidFill>
              <a:schemeClr val="accent1"/>
            </a:solidFill>
            <a:prstDash val="solid"/>
          </a:ln>
        </p:spPr>
      </p:sp>
      <p:pic>
        <p:nvPicPr>
          <p:cNvPr id="36" name="Image 5" descr="preencoded.png">    </p:cNvPr>
          <p:cNvPicPr>
            <a:picLocks noChangeAspect="1"/>
          </p:cNvPicPr>
          <p:nvPr/>
        </p:nvPicPr>
        <p:blipFill>
          <a:blip r:embed="rId6"/>
          <a:stretch>
            <a:fillRect/>
          </a:stretch>
        </p:blipFill>
        <p:spPr>
          <a:xfrm>
            <a:off x="5150358" y="4080510"/>
            <a:ext cx="297180" cy="297180"/>
          </a:xfrm>
          <a:prstGeom prst="rect">
            <a:avLst/>
          </a:prstGeom>
        </p:spPr>
      </p:pic>
      <p:sp>
        <p:nvSpPr>
          <p:cNvPr id="37" name="Text 29"/>
          <p:cNvSpPr txBox="1"/>
          <p:nvPr/>
        </p:nvSpPr>
        <p:spPr>
          <a:xfrm>
            <a:off x="5733288" y="397764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Production</a:t>
            </a:r>
            <a:endParaRPr lang="en-US" sz="1800" dirty="0"/>
          </a:p>
        </p:txBody>
      </p:sp>
      <p:sp>
        <p:nvSpPr>
          <p:cNvPr id="38" name="Text 30"/>
          <p:cNvSpPr txBox="1"/>
          <p:nvPr/>
        </p:nvSpPr>
        <p:spPr>
          <a:xfrm>
            <a:off x="5001768" y="466344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View stock today. Manufacturing is planned (v1.1)</a:t>
            </a:r>
            <a:endParaRPr lang="en-US" sz="1300" dirty="0"/>
          </a:p>
        </p:txBody>
      </p:sp>
      <p:sp>
        <p:nvSpPr>
          <p:cNvPr id="39" name="role-6"/>
          <p:cNvSpPr/>
          <p:nvPr/>
        </p:nvSpPr>
        <p:spPr>
          <a:xfrm>
            <a:off x="7589520" y="3703320"/>
            <a:ext cx="2606040" cy="20574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40" name="Shape 32"/>
          <p:cNvSpPr/>
          <p:nvPr/>
        </p:nvSpPr>
        <p:spPr>
          <a:xfrm>
            <a:off x="7818120" y="3931920"/>
            <a:ext cx="594360" cy="594360"/>
          </a:xfrm>
          <a:prstGeom prst="ellipse">
            <a:avLst/>
          </a:prstGeom>
          <a:solidFill>
            <a:schemeClr val="accent1"/>
          </a:solidFill>
          <a:ln w="12700">
            <a:solidFill>
              <a:schemeClr val="accent1"/>
            </a:solidFill>
            <a:prstDash val="solid"/>
          </a:ln>
        </p:spPr>
      </p:sp>
      <p:pic>
        <p:nvPicPr>
          <p:cNvPr id="41" name="Image 6" descr="preencoded.png">    </p:cNvPr>
          <p:cNvPicPr>
            <a:picLocks noChangeAspect="1"/>
          </p:cNvPicPr>
          <p:nvPr/>
        </p:nvPicPr>
        <p:blipFill>
          <a:blip r:embed="rId7"/>
          <a:stretch>
            <a:fillRect/>
          </a:stretch>
        </p:blipFill>
        <p:spPr>
          <a:xfrm>
            <a:off x="7966710" y="4080510"/>
            <a:ext cx="297180" cy="297180"/>
          </a:xfrm>
          <a:prstGeom prst="rect">
            <a:avLst/>
          </a:prstGeom>
        </p:spPr>
      </p:pic>
      <p:sp>
        <p:nvSpPr>
          <p:cNvPr id="42" name="Text 33"/>
          <p:cNvSpPr txBox="1"/>
          <p:nvPr/>
        </p:nvSpPr>
        <p:spPr>
          <a:xfrm>
            <a:off x="8549640" y="397764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Read only</a:t>
            </a:r>
            <a:endParaRPr lang="en-US" sz="1800" dirty="0"/>
          </a:p>
        </p:txBody>
      </p:sp>
      <p:sp>
        <p:nvSpPr>
          <p:cNvPr id="43" name="Text 34"/>
          <p:cNvSpPr txBox="1"/>
          <p:nvPr/>
        </p:nvSpPr>
        <p:spPr>
          <a:xfrm>
            <a:off x="7818120" y="466344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Sees almost everything, changes nothing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5-minute demo path</a:t>
            </a:r>
            <a:endParaRPr lang="en-US" sz="3600" dirty="0"/>
          </a:p>
        </p:txBody>
      </p:sp>
      <p:sp>
        <p:nvSpPr>
          <p:cNvPr id="3" name="Shape 1"/>
          <p:cNvSpPr/>
          <p:nvPr/>
        </p:nvSpPr>
        <p:spPr>
          <a:xfrm>
            <a:off x="548640" y="1325880"/>
            <a:ext cx="11064240" cy="475488"/>
          </a:xfrm>
          <a:prstGeom prst="rect">
            <a:avLst/>
          </a:prstGeom>
          <a:solidFill>
            <a:schemeClr val="bg2"/>
          </a:solidFill>
          <a:ln w="12700">
            <a:solidFill>
              <a:schemeClr val="bg2"/>
            </a:solidFill>
            <a:prstDash val="solid"/>
          </a:ln>
        </p:spPr>
      </p:sp>
      <p:sp>
        <p:nvSpPr>
          <p:cNvPr id="4" name="Shape 2"/>
          <p:cNvSpPr/>
          <p:nvPr/>
        </p:nvSpPr>
        <p:spPr>
          <a:xfrm>
            <a:off x="685800" y="1417320"/>
            <a:ext cx="822960" cy="29260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685800" y="1417320"/>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0:00</a:t>
            </a:r>
            <a:endParaRPr lang="en-US" sz="1300" dirty="0"/>
          </a:p>
        </p:txBody>
      </p:sp>
      <p:sp>
        <p:nvSpPr>
          <p:cNvPr id="6" name="Text 4"/>
          <p:cNvSpPr txBox="1"/>
          <p:nvPr/>
        </p:nvSpPr>
        <p:spPr>
          <a:xfrm>
            <a:off x="1783080" y="1325880"/>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Dashboard</a:t>
            </a:r>
            <a:endParaRPr lang="en-US" sz="1500" dirty="0"/>
          </a:p>
        </p:txBody>
      </p:sp>
      <p:sp>
        <p:nvSpPr>
          <p:cNvPr id="7" name="Text 5"/>
          <p:cNvSpPr txBox="1"/>
          <p:nvPr/>
        </p:nvSpPr>
        <p:spPr>
          <a:xfrm>
            <a:off x="5486400" y="1325880"/>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Tiles each person picks, low-stock alerts</a:t>
            </a:r>
            <a:endParaRPr lang="en-US" sz="1500" dirty="0"/>
          </a:p>
        </p:txBody>
      </p:sp>
      <p:sp>
        <p:nvSpPr>
          <p:cNvPr id="8" name="Shape 6"/>
          <p:cNvSpPr/>
          <p:nvPr/>
        </p:nvSpPr>
        <p:spPr>
          <a:xfrm>
            <a:off x="685800" y="1929384"/>
            <a:ext cx="822960" cy="292608"/>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685800" y="1929384"/>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0:30</a:t>
            </a:r>
            <a:endParaRPr lang="en-US" sz="1300" dirty="0"/>
          </a:p>
        </p:txBody>
      </p:sp>
      <p:sp>
        <p:nvSpPr>
          <p:cNvPr id="10" name="Text 8"/>
          <p:cNvSpPr txBox="1"/>
          <p:nvPr/>
        </p:nvSpPr>
        <p:spPr>
          <a:xfrm>
            <a:off x="1783080" y="1837944"/>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Inventory → Stock</a:t>
            </a:r>
            <a:endParaRPr lang="en-US" sz="1500" dirty="0"/>
          </a:p>
        </p:txBody>
      </p:sp>
      <p:sp>
        <p:nvSpPr>
          <p:cNvPr id="11" name="Text 9"/>
          <p:cNvSpPr txBox="1"/>
          <p:nvPr/>
        </p:nvSpPr>
        <p:spPr>
          <a:xfrm>
            <a:off x="5486400" y="1837944"/>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On hand, reserved, available, on order</a:t>
            </a:r>
            <a:endParaRPr lang="en-US" sz="1500" dirty="0"/>
          </a:p>
        </p:txBody>
      </p:sp>
      <p:sp>
        <p:nvSpPr>
          <p:cNvPr id="12" name="Shape 10"/>
          <p:cNvSpPr/>
          <p:nvPr/>
        </p:nvSpPr>
        <p:spPr>
          <a:xfrm>
            <a:off x="548640" y="2350008"/>
            <a:ext cx="11064240" cy="475488"/>
          </a:xfrm>
          <a:prstGeom prst="rect">
            <a:avLst/>
          </a:prstGeom>
          <a:solidFill>
            <a:schemeClr val="bg2"/>
          </a:solidFill>
          <a:ln w="12700">
            <a:solidFill>
              <a:schemeClr val="bg2"/>
            </a:solidFill>
            <a:prstDash val="solid"/>
          </a:ln>
        </p:spPr>
      </p:sp>
      <p:sp>
        <p:nvSpPr>
          <p:cNvPr id="13" name="Shape 11"/>
          <p:cNvSpPr/>
          <p:nvPr/>
        </p:nvSpPr>
        <p:spPr>
          <a:xfrm>
            <a:off x="685800" y="2441448"/>
            <a:ext cx="822960" cy="292608"/>
          </a:xfrm>
          <a:prstGeom prst="roundRect">
            <a:avLst>
              <a:gd name="adj" fmla="val 50000"/>
            </a:avLst>
          </a:prstGeom>
          <a:solidFill>
            <a:schemeClr val="accent1"/>
          </a:solidFill>
          <a:ln w="12700">
            <a:solidFill>
              <a:schemeClr val="accent1"/>
            </a:solidFill>
            <a:prstDash val="solid"/>
          </a:ln>
        </p:spPr>
      </p:sp>
      <p:sp>
        <p:nvSpPr>
          <p:cNvPr id="14" name="Text 12"/>
          <p:cNvSpPr txBox="1"/>
          <p:nvPr/>
        </p:nvSpPr>
        <p:spPr>
          <a:xfrm>
            <a:off x="685800" y="2441448"/>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1:00</a:t>
            </a:r>
            <a:endParaRPr lang="en-US" sz="1300" dirty="0"/>
          </a:p>
        </p:txBody>
      </p:sp>
      <p:sp>
        <p:nvSpPr>
          <p:cNvPr id="15" name="Text 13"/>
          <p:cNvSpPr txBox="1"/>
          <p:nvPr/>
        </p:nvSpPr>
        <p:spPr>
          <a:xfrm>
            <a:off x="1783080" y="2350008"/>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Sales → Sales orders</a:t>
            </a:r>
            <a:endParaRPr lang="en-US" sz="1500" dirty="0"/>
          </a:p>
        </p:txBody>
      </p:sp>
      <p:sp>
        <p:nvSpPr>
          <p:cNvPr id="16" name="Text 14"/>
          <p:cNvSpPr txBox="1"/>
          <p:nvPr/>
        </p:nvSpPr>
        <p:spPr>
          <a:xfrm>
            <a:off x="5486400" y="2350008"/>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New quote → Convert to order</a:t>
            </a:r>
            <a:endParaRPr lang="en-US" sz="1500" dirty="0"/>
          </a:p>
        </p:txBody>
      </p:sp>
      <p:sp>
        <p:nvSpPr>
          <p:cNvPr id="17" name="Shape 15"/>
          <p:cNvSpPr/>
          <p:nvPr/>
        </p:nvSpPr>
        <p:spPr>
          <a:xfrm>
            <a:off x="685800" y="2953512"/>
            <a:ext cx="822960" cy="292608"/>
          </a:xfrm>
          <a:prstGeom prst="roundRect">
            <a:avLst>
              <a:gd name="adj" fmla="val 50000"/>
            </a:avLst>
          </a:prstGeom>
          <a:solidFill>
            <a:schemeClr val="accent1"/>
          </a:solidFill>
          <a:ln w="12700">
            <a:solidFill>
              <a:schemeClr val="accent1"/>
            </a:solidFill>
            <a:prstDash val="solid"/>
          </a:ln>
        </p:spPr>
      </p:sp>
      <p:sp>
        <p:nvSpPr>
          <p:cNvPr id="18" name="Text 16"/>
          <p:cNvSpPr txBox="1"/>
          <p:nvPr/>
        </p:nvSpPr>
        <p:spPr>
          <a:xfrm>
            <a:off x="685800" y="2953512"/>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1:30</a:t>
            </a:r>
            <a:endParaRPr lang="en-US" sz="1300" dirty="0"/>
          </a:p>
        </p:txBody>
      </p:sp>
      <p:sp>
        <p:nvSpPr>
          <p:cNvPr id="19" name="Text 17"/>
          <p:cNvSpPr txBox="1"/>
          <p:nvPr/>
        </p:nvSpPr>
        <p:spPr>
          <a:xfrm>
            <a:off x="1783080" y="2862072"/>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Order detail</a:t>
            </a:r>
            <a:endParaRPr lang="en-US" sz="1500" dirty="0"/>
          </a:p>
        </p:txBody>
      </p:sp>
      <p:sp>
        <p:nvSpPr>
          <p:cNvPr id="20" name="Text 18"/>
          <p:cNvSpPr txBox="1"/>
          <p:nvPr/>
        </p:nvSpPr>
        <p:spPr>
          <a:xfrm>
            <a:off x="5486400" y="2862072"/>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Start picking → Pick all, Pack all, Ship all</a:t>
            </a:r>
            <a:endParaRPr lang="en-US" sz="1500" dirty="0"/>
          </a:p>
        </p:txBody>
      </p:sp>
      <p:sp>
        <p:nvSpPr>
          <p:cNvPr id="21" name="Shape 19"/>
          <p:cNvSpPr/>
          <p:nvPr/>
        </p:nvSpPr>
        <p:spPr>
          <a:xfrm>
            <a:off x="548640" y="3374136"/>
            <a:ext cx="11064240" cy="475488"/>
          </a:xfrm>
          <a:prstGeom prst="rect">
            <a:avLst/>
          </a:prstGeom>
          <a:solidFill>
            <a:schemeClr val="bg2"/>
          </a:solidFill>
          <a:ln w="12700">
            <a:solidFill>
              <a:schemeClr val="bg2"/>
            </a:solidFill>
            <a:prstDash val="solid"/>
          </a:ln>
        </p:spPr>
      </p:sp>
      <p:sp>
        <p:nvSpPr>
          <p:cNvPr id="22" name="Shape 20"/>
          <p:cNvSpPr/>
          <p:nvPr/>
        </p:nvSpPr>
        <p:spPr>
          <a:xfrm>
            <a:off x="685800" y="3465576"/>
            <a:ext cx="822960" cy="292608"/>
          </a:xfrm>
          <a:prstGeom prst="roundRect">
            <a:avLst>
              <a:gd name="adj" fmla="val 50000"/>
            </a:avLst>
          </a:prstGeom>
          <a:solidFill>
            <a:schemeClr val="accent1"/>
          </a:solidFill>
          <a:ln w="12700">
            <a:solidFill>
              <a:schemeClr val="accent1"/>
            </a:solidFill>
            <a:prstDash val="solid"/>
          </a:ln>
        </p:spPr>
      </p:sp>
      <p:sp>
        <p:nvSpPr>
          <p:cNvPr id="23" name="Text 21"/>
          <p:cNvSpPr txBox="1"/>
          <p:nvPr/>
        </p:nvSpPr>
        <p:spPr>
          <a:xfrm>
            <a:off x="685800" y="3465576"/>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2:15</a:t>
            </a:r>
            <a:endParaRPr lang="en-US" sz="1300" dirty="0"/>
          </a:p>
        </p:txBody>
      </p:sp>
      <p:sp>
        <p:nvSpPr>
          <p:cNvPr id="24" name="Text 22"/>
          <p:cNvSpPr txBox="1"/>
          <p:nvPr/>
        </p:nvSpPr>
        <p:spPr>
          <a:xfrm>
            <a:off x="1783080" y="3374136"/>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Order detail</a:t>
            </a:r>
            <a:endParaRPr lang="en-US" sz="1500" dirty="0"/>
          </a:p>
        </p:txBody>
      </p:sp>
      <p:sp>
        <p:nvSpPr>
          <p:cNvPr id="25" name="Text 23"/>
          <p:cNvSpPr txBox="1"/>
          <p:nvPr/>
        </p:nvSpPr>
        <p:spPr>
          <a:xfrm>
            <a:off x="5486400" y="3374136"/>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Invoice today → Pay in full, show Profit, History</a:t>
            </a:r>
            <a:endParaRPr lang="en-US" sz="1500" dirty="0"/>
          </a:p>
        </p:txBody>
      </p:sp>
      <p:sp>
        <p:nvSpPr>
          <p:cNvPr id="26" name="Shape 24"/>
          <p:cNvSpPr/>
          <p:nvPr/>
        </p:nvSpPr>
        <p:spPr>
          <a:xfrm>
            <a:off x="685800" y="3977640"/>
            <a:ext cx="822960" cy="292608"/>
          </a:xfrm>
          <a:prstGeom prst="roundRect">
            <a:avLst>
              <a:gd name="adj" fmla="val 50000"/>
            </a:avLst>
          </a:prstGeom>
          <a:solidFill>
            <a:schemeClr val="accent1"/>
          </a:solidFill>
          <a:ln w="12700">
            <a:solidFill>
              <a:schemeClr val="accent1"/>
            </a:solidFill>
            <a:prstDash val="solid"/>
          </a:ln>
        </p:spPr>
      </p:sp>
      <p:sp>
        <p:nvSpPr>
          <p:cNvPr id="27" name="Text 25"/>
          <p:cNvSpPr txBox="1"/>
          <p:nvPr/>
        </p:nvSpPr>
        <p:spPr>
          <a:xfrm>
            <a:off x="685800" y="3977640"/>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2:45</a:t>
            </a:r>
            <a:endParaRPr lang="en-US" sz="1300" dirty="0"/>
          </a:p>
        </p:txBody>
      </p:sp>
      <p:sp>
        <p:nvSpPr>
          <p:cNvPr id="28" name="Text 26"/>
          <p:cNvSpPr txBox="1"/>
          <p:nvPr/>
        </p:nvSpPr>
        <p:spPr>
          <a:xfrm>
            <a:off x="1783080" y="3886200"/>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Inventory → Reordering</a:t>
            </a:r>
            <a:endParaRPr lang="en-US" sz="1500" dirty="0"/>
          </a:p>
        </p:txBody>
      </p:sp>
      <p:sp>
        <p:nvSpPr>
          <p:cNvPr id="29" name="Text 27"/>
          <p:cNvSpPr txBox="1"/>
          <p:nvPr/>
        </p:nvSpPr>
        <p:spPr>
          <a:xfrm>
            <a:off x="5486400" y="3886200"/>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One click creates draft POs by vendor</a:t>
            </a:r>
            <a:endParaRPr lang="en-US" sz="1500" dirty="0"/>
          </a:p>
        </p:txBody>
      </p:sp>
      <p:sp>
        <p:nvSpPr>
          <p:cNvPr id="30" name="Shape 28"/>
          <p:cNvSpPr/>
          <p:nvPr/>
        </p:nvSpPr>
        <p:spPr>
          <a:xfrm>
            <a:off x="548640" y="4398264"/>
            <a:ext cx="11064240" cy="475488"/>
          </a:xfrm>
          <a:prstGeom prst="rect">
            <a:avLst/>
          </a:prstGeom>
          <a:solidFill>
            <a:schemeClr val="bg2"/>
          </a:solidFill>
          <a:ln w="12700">
            <a:solidFill>
              <a:schemeClr val="bg2"/>
            </a:solidFill>
            <a:prstDash val="solid"/>
          </a:ln>
        </p:spPr>
      </p:sp>
      <p:sp>
        <p:nvSpPr>
          <p:cNvPr id="31" name="Shape 29"/>
          <p:cNvSpPr/>
          <p:nvPr/>
        </p:nvSpPr>
        <p:spPr>
          <a:xfrm>
            <a:off x="685800" y="4489704"/>
            <a:ext cx="822960" cy="292608"/>
          </a:xfrm>
          <a:prstGeom prst="roundRect">
            <a:avLst>
              <a:gd name="adj" fmla="val 50000"/>
            </a:avLst>
          </a:prstGeom>
          <a:solidFill>
            <a:schemeClr val="accent1"/>
          </a:solidFill>
          <a:ln w="12700">
            <a:solidFill>
              <a:schemeClr val="accent1"/>
            </a:solidFill>
            <a:prstDash val="solid"/>
          </a:ln>
        </p:spPr>
      </p:sp>
      <p:sp>
        <p:nvSpPr>
          <p:cNvPr id="32" name="Text 30"/>
          <p:cNvSpPr txBox="1"/>
          <p:nvPr/>
        </p:nvSpPr>
        <p:spPr>
          <a:xfrm>
            <a:off x="685800" y="4489704"/>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3:15</a:t>
            </a:r>
            <a:endParaRPr lang="en-US" sz="1300" dirty="0"/>
          </a:p>
        </p:txBody>
      </p:sp>
      <p:sp>
        <p:nvSpPr>
          <p:cNvPr id="33" name="Text 31"/>
          <p:cNvSpPr txBox="1"/>
          <p:nvPr/>
        </p:nvSpPr>
        <p:spPr>
          <a:xfrm>
            <a:off x="1783080" y="4398264"/>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Purchasing → Purchase orders</a:t>
            </a:r>
            <a:endParaRPr lang="en-US" sz="1500" dirty="0"/>
          </a:p>
        </p:txBody>
      </p:sp>
      <p:sp>
        <p:nvSpPr>
          <p:cNvPr id="34" name="Text 32"/>
          <p:cNvSpPr txBox="1"/>
          <p:nvPr/>
        </p:nvSpPr>
        <p:spPr>
          <a:xfrm>
            <a:off x="5486400" y="4398264"/>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Approve → Receive with a lot</a:t>
            </a:r>
            <a:endParaRPr lang="en-US" sz="1500" dirty="0"/>
          </a:p>
        </p:txBody>
      </p:sp>
      <p:sp>
        <p:nvSpPr>
          <p:cNvPr id="35" name="Shape 33"/>
          <p:cNvSpPr/>
          <p:nvPr/>
        </p:nvSpPr>
        <p:spPr>
          <a:xfrm>
            <a:off x="685800" y="5001768"/>
            <a:ext cx="822960" cy="292608"/>
          </a:xfrm>
          <a:prstGeom prst="roundRect">
            <a:avLst>
              <a:gd name="adj" fmla="val 50000"/>
            </a:avLst>
          </a:prstGeom>
          <a:solidFill>
            <a:schemeClr val="accent1"/>
          </a:solidFill>
          <a:ln w="12700">
            <a:solidFill>
              <a:schemeClr val="accent1"/>
            </a:solidFill>
            <a:prstDash val="solid"/>
          </a:ln>
        </p:spPr>
      </p:sp>
      <p:sp>
        <p:nvSpPr>
          <p:cNvPr id="36" name="Text 34"/>
          <p:cNvSpPr txBox="1"/>
          <p:nvPr/>
        </p:nvSpPr>
        <p:spPr>
          <a:xfrm>
            <a:off x="685800" y="5001768"/>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4:00</a:t>
            </a:r>
            <a:endParaRPr lang="en-US" sz="1300" dirty="0"/>
          </a:p>
        </p:txBody>
      </p:sp>
      <p:sp>
        <p:nvSpPr>
          <p:cNvPr id="37" name="Text 35"/>
          <p:cNvSpPr txBox="1"/>
          <p:nvPr/>
        </p:nvSpPr>
        <p:spPr>
          <a:xfrm>
            <a:off x="1783080" y="4910328"/>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Reports</a:t>
            </a:r>
            <a:endParaRPr lang="en-US" sz="1500" dirty="0"/>
          </a:p>
        </p:txBody>
      </p:sp>
      <p:sp>
        <p:nvSpPr>
          <p:cNvPr id="38" name="Text 36"/>
          <p:cNvSpPr txBox="1"/>
          <p:nvPr/>
        </p:nvSpPr>
        <p:spPr>
          <a:xfrm>
            <a:off x="5486400" y="4910328"/>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Sales profit → Export → CSV file</a:t>
            </a:r>
            <a:endParaRPr lang="en-US" sz="1500" dirty="0"/>
          </a:p>
        </p:txBody>
      </p:sp>
      <p:sp>
        <p:nvSpPr>
          <p:cNvPr id="39" name="Shape 37"/>
          <p:cNvSpPr/>
          <p:nvPr/>
        </p:nvSpPr>
        <p:spPr>
          <a:xfrm>
            <a:off x="548640" y="5422392"/>
            <a:ext cx="11064240" cy="475488"/>
          </a:xfrm>
          <a:prstGeom prst="rect">
            <a:avLst/>
          </a:prstGeom>
          <a:solidFill>
            <a:schemeClr val="bg2"/>
          </a:solidFill>
          <a:ln w="12700">
            <a:solidFill>
              <a:schemeClr val="bg2"/>
            </a:solidFill>
            <a:prstDash val="solid"/>
          </a:ln>
        </p:spPr>
      </p:sp>
      <p:sp>
        <p:nvSpPr>
          <p:cNvPr id="40" name="Shape 38"/>
          <p:cNvSpPr/>
          <p:nvPr/>
        </p:nvSpPr>
        <p:spPr>
          <a:xfrm>
            <a:off x="685800" y="5513832"/>
            <a:ext cx="822960" cy="292608"/>
          </a:xfrm>
          <a:prstGeom prst="roundRect">
            <a:avLst>
              <a:gd name="adj" fmla="val 50000"/>
            </a:avLst>
          </a:prstGeom>
          <a:solidFill>
            <a:schemeClr val="accent1"/>
          </a:solidFill>
          <a:ln w="12700">
            <a:solidFill>
              <a:schemeClr val="accent1"/>
            </a:solidFill>
            <a:prstDash val="solid"/>
          </a:ln>
        </p:spPr>
      </p:sp>
      <p:sp>
        <p:nvSpPr>
          <p:cNvPr id="41" name="Text 39"/>
          <p:cNvSpPr txBox="1"/>
          <p:nvPr/>
        </p:nvSpPr>
        <p:spPr>
          <a:xfrm>
            <a:off x="685800" y="5513832"/>
            <a:ext cx="822960" cy="292608"/>
          </a:xfrm>
          <a:prstGeom prst="rect">
            <a:avLst/>
          </a:prstGeom>
          <a:noFill/>
          <a:ln/>
        </p:spPr>
        <p:txBody>
          <a:bodyPr wrap="square" lIns="0" tIns="0" rIns="0" bIns="0" rtlCol="0" anchor="ctr"/>
          <a:lstStyle/>
          <a:p>
            <a:pPr algn="ctr" indent="0" marL="0">
              <a:buNone/>
            </a:pPr>
            <a:r>
              <a:rPr lang="en-US" sz="1300" b="1" dirty="0">
                <a:solidFill>
                  <a:schemeClr val="bg1"/>
                </a:solidFill>
              </a:rPr>
              <a:t>4:30</a:t>
            </a:r>
            <a:endParaRPr lang="en-US" sz="1300" dirty="0"/>
          </a:p>
        </p:txBody>
      </p:sp>
      <p:sp>
        <p:nvSpPr>
          <p:cNvPr id="42" name="Text 40"/>
          <p:cNvSpPr txBox="1"/>
          <p:nvPr/>
        </p:nvSpPr>
        <p:spPr>
          <a:xfrm>
            <a:off x="1783080" y="5422392"/>
            <a:ext cx="3566160" cy="475488"/>
          </a:xfrm>
          <a:prstGeom prst="rect">
            <a:avLst/>
          </a:prstGeom>
          <a:noFill/>
          <a:ln/>
        </p:spPr>
        <p:txBody>
          <a:bodyPr wrap="square" lIns="0" tIns="0" rIns="0" bIns="0" rtlCol="0" anchor="ctr"/>
          <a:lstStyle/>
          <a:p>
            <a:pPr indent="0" marL="0">
              <a:buNone/>
            </a:pPr>
            <a:r>
              <a:rPr lang="en-US" sz="1500" b="1" dirty="0">
                <a:solidFill>
                  <a:schemeClr val="tx1"/>
                </a:solidFill>
              </a:rPr>
              <a:t>Settings → Team</a:t>
            </a:r>
            <a:endParaRPr lang="en-US" sz="1500" dirty="0"/>
          </a:p>
        </p:txBody>
      </p:sp>
      <p:sp>
        <p:nvSpPr>
          <p:cNvPr id="43" name="Text 41"/>
          <p:cNvSpPr txBox="1"/>
          <p:nvPr/>
        </p:nvSpPr>
        <p:spPr>
          <a:xfrm>
            <a:off x="5486400" y="5422392"/>
            <a:ext cx="6035040" cy="475488"/>
          </a:xfrm>
          <a:prstGeom prst="rect">
            <a:avLst/>
          </a:prstGeom>
          <a:noFill/>
          <a:ln/>
        </p:spPr>
        <p:txBody>
          <a:bodyPr wrap="square" lIns="0" tIns="0" rIns="0" bIns="0" rtlCol="0" anchor="ctr"/>
          <a:lstStyle/>
          <a:p>
            <a:pPr indent="0" marL="0">
              <a:buNone/>
            </a:pPr>
            <a:r>
              <a:rPr lang="en-US" sz="1500" dirty="0">
                <a:solidFill>
                  <a:schemeClr val="accent5"/>
                </a:solidFill>
              </a:rPr>
              <a:t>Roles, approval limit, allowed locations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Stock: one number stored, the rest worked out</a:t>
            </a:r>
            <a:endParaRPr lang="en-US" sz="3600" dirty="0"/>
          </a:p>
        </p:txBody>
      </p:sp>
      <p:sp>
        <p:nvSpPr>
          <p:cNvPr id="3" name="Text 1"/>
          <p:cNvSpPr txBox="1"/>
          <p:nvPr/>
        </p:nvSpPr>
        <p:spPr>
          <a:xfrm>
            <a:off x="548640" y="1234440"/>
            <a:ext cx="10972800" cy="411480"/>
          </a:xfrm>
          <a:prstGeom prst="rect">
            <a:avLst/>
          </a:prstGeom>
          <a:noFill/>
          <a:ln/>
        </p:spPr>
        <p:txBody>
          <a:bodyPr wrap="square" lIns="0" tIns="0" rIns="0" bIns="0" rtlCol="0" anchor="t"/>
          <a:lstStyle/>
          <a:p>
            <a:pPr indent="0" marL="0">
              <a:buNone/>
            </a:pPr>
            <a:r>
              <a:rPr lang="en-US" sz="1600" i="1" dirty="0">
                <a:solidFill>
                  <a:schemeClr val="accent5"/>
                </a:solidFill>
              </a:rPr>
              <a:t>Example: Charger at the Dhaka location</a:t>
            </a:r>
            <a:endParaRPr lang="en-US" sz="1600" dirty="0"/>
          </a:p>
        </p:txBody>
      </p:sp>
      <p:sp>
        <p:nvSpPr>
          <p:cNvPr id="4" name="qty-0"/>
          <p:cNvSpPr/>
          <p:nvPr/>
        </p:nvSpPr>
        <p:spPr>
          <a:xfrm>
            <a:off x="548640" y="1828800"/>
            <a:ext cx="1874520" cy="219456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5" name="Text 3"/>
          <p:cNvSpPr txBox="1"/>
          <p:nvPr/>
        </p:nvSpPr>
        <p:spPr>
          <a:xfrm>
            <a:off x="685800" y="1965960"/>
            <a:ext cx="1600200" cy="914400"/>
          </a:xfrm>
          <a:prstGeom prst="rect">
            <a:avLst/>
          </a:prstGeom>
          <a:noFill/>
          <a:ln/>
        </p:spPr>
        <p:txBody>
          <a:bodyPr wrap="square" lIns="0" tIns="0" rIns="0" bIns="0"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50</a:t>
            </a:r>
            <a:endParaRPr lang="en-US" sz="5400" dirty="0"/>
          </a:p>
        </p:txBody>
      </p:sp>
      <p:sp>
        <p:nvSpPr>
          <p:cNvPr id="6" name="Text 4"/>
          <p:cNvSpPr txBox="1"/>
          <p:nvPr/>
        </p:nvSpPr>
        <p:spPr>
          <a:xfrm>
            <a:off x="685800" y="2926080"/>
            <a:ext cx="1600200" cy="365760"/>
          </a:xfrm>
          <a:prstGeom prst="rect">
            <a:avLst/>
          </a:prstGeom>
          <a:noFill/>
          <a:ln/>
        </p:spPr>
        <p:txBody>
          <a:bodyPr wrap="square" lIns="0" tIns="0" rIns="0" bIns="0" rtlCol="0" anchor="t"/>
          <a:lstStyle/>
          <a:p>
            <a:pPr algn="ctr" indent="0" marL="0">
              <a:buNone/>
            </a:pPr>
            <a:r>
              <a:rPr lang="en-US" sz="1700" b="1" dirty="0">
                <a:solidFill>
                  <a:schemeClr val="tx1"/>
                </a:solidFill>
              </a:rPr>
              <a:t>On hand</a:t>
            </a:r>
            <a:endParaRPr lang="en-US" sz="1700" dirty="0"/>
          </a:p>
        </p:txBody>
      </p:sp>
      <p:sp>
        <p:nvSpPr>
          <p:cNvPr id="7" name="Text 5"/>
          <p:cNvSpPr txBox="1"/>
          <p:nvPr/>
        </p:nvSpPr>
        <p:spPr>
          <a:xfrm>
            <a:off x="685800" y="3291840"/>
            <a:ext cx="1600200" cy="640080"/>
          </a:xfrm>
          <a:prstGeom prst="rect">
            <a:avLst/>
          </a:prstGeom>
          <a:noFill/>
          <a:ln/>
        </p:spPr>
        <p:txBody>
          <a:bodyPr wrap="square" lIns="0" tIns="0" rIns="0" bIns="0" rtlCol="0" anchor="t"/>
          <a:lstStyle/>
          <a:p>
            <a:pPr algn="ctr" indent="0" marL="0">
              <a:buNone/>
            </a:pPr>
            <a:r>
              <a:rPr lang="en-US" sz="1200" dirty="0">
                <a:solidFill>
                  <a:schemeClr val="accent5"/>
                </a:solidFill>
              </a:rPr>
              <a:t>Stored. Sum of the ledger</a:t>
            </a:r>
            <a:endParaRPr lang="en-US" sz="1200" dirty="0"/>
          </a:p>
        </p:txBody>
      </p:sp>
      <p:sp>
        <p:nvSpPr>
          <p:cNvPr id="8" name="Text 6"/>
          <p:cNvSpPr txBox="1"/>
          <p:nvPr/>
        </p:nvSpPr>
        <p:spPr>
          <a:xfrm>
            <a:off x="2423160" y="2468880"/>
            <a:ext cx="411480" cy="548640"/>
          </a:xfrm>
          <a:prstGeom prst="rect">
            <a:avLst/>
          </a:prstGeom>
          <a:noFill/>
          <a:ln/>
        </p:spPr>
        <p:txBody>
          <a:bodyPr wrap="square" lIns="0" tIns="0" rIns="0" bIns="0" rtlCol="0" anchor="t"/>
          <a:lstStyle/>
          <a:p>
            <a:pPr algn="ctr" indent="0" marL="0">
              <a:buNone/>
            </a:pPr>
            <a:r>
              <a:rPr lang="en-US" sz="3200" b="1" dirty="0">
                <a:solidFill>
                  <a:schemeClr val="accent2"/>
                </a:solidFill>
              </a:rPr>
              <a:t>−</a:t>
            </a:r>
            <a:endParaRPr lang="en-US" sz="3200" dirty="0"/>
          </a:p>
        </p:txBody>
      </p:sp>
      <p:sp>
        <p:nvSpPr>
          <p:cNvPr id="9" name="qty-1"/>
          <p:cNvSpPr/>
          <p:nvPr/>
        </p:nvSpPr>
        <p:spPr>
          <a:xfrm>
            <a:off x="2834640" y="1828800"/>
            <a:ext cx="1874520" cy="219456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0" name="Text 8"/>
          <p:cNvSpPr txBox="1"/>
          <p:nvPr/>
        </p:nvSpPr>
        <p:spPr>
          <a:xfrm>
            <a:off x="2971800" y="1965960"/>
            <a:ext cx="1600200" cy="914400"/>
          </a:xfrm>
          <a:prstGeom prst="rect">
            <a:avLst/>
          </a:prstGeom>
          <a:noFill/>
          <a:ln/>
        </p:spPr>
        <p:txBody>
          <a:bodyPr wrap="square" lIns="0" tIns="0" rIns="0" bIns="0" rtlCol="0" anchor="t"/>
          <a:lstStyle/>
          <a:p>
            <a:pPr algn="ctr" indent="0" marL="0">
              <a:buNone/>
            </a:pPr>
            <a:r>
              <a:rPr lang="en-US" sz="5400" b="1" dirty="0">
                <a:solidFill>
                  <a:schemeClr val="accent5"/>
                </a:solidFill>
                <a:latin typeface="Cambria" pitchFamily="34" charset="0"/>
                <a:ea typeface="Cambria" pitchFamily="34" charset="-122"/>
                <a:cs typeface="Cambria" pitchFamily="34" charset="-120"/>
              </a:rPr>
              <a:t>15</a:t>
            </a:r>
            <a:endParaRPr lang="en-US" sz="5400" dirty="0"/>
          </a:p>
        </p:txBody>
      </p:sp>
      <p:sp>
        <p:nvSpPr>
          <p:cNvPr id="11" name="Text 9"/>
          <p:cNvSpPr txBox="1"/>
          <p:nvPr/>
        </p:nvSpPr>
        <p:spPr>
          <a:xfrm>
            <a:off x="2971800" y="2926080"/>
            <a:ext cx="1600200" cy="365760"/>
          </a:xfrm>
          <a:prstGeom prst="rect">
            <a:avLst/>
          </a:prstGeom>
          <a:noFill/>
          <a:ln/>
        </p:spPr>
        <p:txBody>
          <a:bodyPr wrap="square" lIns="0" tIns="0" rIns="0" bIns="0" rtlCol="0" anchor="t"/>
          <a:lstStyle/>
          <a:p>
            <a:pPr algn="ctr" indent="0" marL="0">
              <a:buNone/>
            </a:pPr>
            <a:r>
              <a:rPr lang="en-US" sz="1700" b="1" dirty="0">
                <a:solidFill>
                  <a:schemeClr val="tx1"/>
                </a:solidFill>
              </a:rPr>
              <a:t>Reserved</a:t>
            </a:r>
            <a:endParaRPr lang="en-US" sz="1700" dirty="0"/>
          </a:p>
        </p:txBody>
      </p:sp>
      <p:sp>
        <p:nvSpPr>
          <p:cNvPr id="12" name="Text 10"/>
          <p:cNvSpPr txBox="1"/>
          <p:nvPr/>
        </p:nvSpPr>
        <p:spPr>
          <a:xfrm>
            <a:off x="2971800" y="3291840"/>
            <a:ext cx="1600200" cy="640080"/>
          </a:xfrm>
          <a:prstGeom prst="rect">
            <a:avLst/>
          </a:prstGeom>
          <a:noFill/>
          <a:ln/>
        </p:spPr>
        <p:txBody>
          <a:bodyPr wrap="square" lIns="0" tIns="0" rIns="0" bIns="0" rtlCol="0" anchor="t"/>
          <a:lstStyle/>
          <a:p>
            <a:pPr algn="ctr" indent="0" marL="0">
              <a:buNone/>
            </a:pPr>
            <a:r>
              <a:rPr lang="en-US" sz="1200" dirty="0">
                <a:solidFill>
                  <a:schemeClr val="accent5"/>
                </a:solidFill>
              </a:rPr>
              <a:t>Promised to open orders</a:t>
            </a:r>
            <a:endParaRPr lang="en-US" sz="1200" dirty="0"/>
          </a:p>
        </p:txBody>
      </p:sp>
      <p:sp>
        <p:nvSpPr>
          <p:cNvPr id="13" name="Text 11"/>
          <p:cNvSpPr txBox="1"/>
          <p:nvPr/>
        </p:nvSpPr>
        <p:spPr>
          <a:xfrm>
            <a:off x="4709160" y="2468880"/>
            <a:ext cx="411480" cy="548640"/>
          </a:xfrm>
          <a:prstGeom prst="rect">
            <a:avLst/>
          </a:prstGeom>
          <a:noFill/>
          <a:ln/>
        </p:spPr>
        <p:txBody>
          <a:bodyPr wrap="square" lIns="0" tIns="0" rIns="0" bIns="0" rtlCol="0" anchor="t"/>
          <a:lstStyle/>
          <a:p>
            <a:pPr algn="ctr" indent="0" marL="0">
              <a:buNone/>
            </a:pPr>
            <a:r>
              <a:rPr lang="en-US" sz="3200" b="1" dirty="0">
                <a:solidFill>
                  <a:schemeClr val="accent2"/>
                </a:solidFill>
              </a:rPr>
              <a:t>=</a:t>
            </a:r>
            <a:endParaRPr lang="en-US" sz="3200" dirty="0"/>
          </a:p>
        </p:txBody>
      </p:sp>
      <p:sp>
        <p:nvSpPr>
          <p:cNvPr id="14" name="qty-2"/>
          <p:cNvSpPr/>
          <p:nvPr/>
        </p:nvSpPr>
        <p:spPr>
          <a:xfrm>
            <a:off x="5120640" y="1828800"/>
            <a:ext cx="1874520" cy="219456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15" name="Text 13"/>
          <p:cNvSpPr txBox="1"/>
          <p:nvPr/>
        </p:nvSpPr>
        <p:spPr>
          <a:xfrm>
            <a:off x="5257800" y="1965960"/>
            <a:ext cx="1600200" cy="914400"/>
          </a:xfrm>
          <a:prstGeom prst="rect">
            <a:avLst/>
          </a:prstGeom>
          <a:noFill/>
          <a:ln/>
        </p:spPr>
        <p:txBody>
          <a:bodyPr wrap="square" lIns="0" tIns="0" rIns="0" bIns="0" rtlCol="0" anchor="t"/>
          <a:lstStyle/>
          <a:p>
            <a:pPr algn="ctr" indent="0" marL="0">
              <a:buNone/>
            </a:pPr>
            <a:r>
              <a:rPr lang="en-US" sz="5400" b="1" dirty="0">
                <a:solidFill>
                  <a:schemeClr val="accent3"/>
                </a:solidFill>
                <a:latin typeface="Cambria" pitchFamily="34" charset="0"/>
                <a:ea typeface="Cambria" pitchFamily="34" charset="-122"/>
                <a:cs typeface="Cambria" pitchFamily="34" charset="-120"/>
              </a:rPr>
              <a:t>35</a:t>
            </a:r>
            <a:endParaRPr lang="en-US" sz="5400" dirty="0"/>
          </a:p>
        </p:txBody>
      </p:sp>
      <p:sp>
        <p:nvSpPr>
          <p:cNvPr id="16" name="Text 14"/>
          <p:cNvSpPr txBox="1"/>
          <p:nvPr/>
        </p:nvSpPr>
        <p:spPr>
          <a:xfrm>
            <a:off x="5257800" y="2926080"/>
            <a:ext cx="1600200" cy="365760"/>
          </a:xfrm>
          <a:prstGeom prst="rect">
            <a:avLst/>
          </a:prstGeom>
          <a:noFill/>
          <a:ln/>
        </p:spPr>
        <p:txBody>
          <a:bodyPr wrap="square" lIns="0" tIns="0" rIns="0" bIns="0" rtlCol="0" anchor="t"/>
          <a:lstStyle/>
          <a:p>
            <a:pPr algn="ctr" indent="0" marL="0">
              <a:buNone/>
            </a:pPr>
            <a:r>
              <a:rPr lang="en-US" sz="1700" b="1" dirty="0">
                <a:solidFill>
                  <a:schemeClr val="tx1"/>
                </a:solidFill>
              </a:rPr>
              <a:t>Available</a:t>
            </a:r>
            <a:endParaRPr lang="en-US" sz="1700" dirty="0"/>
          </a:p>
        </p:txBody>
      </p:sp>
      <p:sp>
        <p:nvSpPr>
          <p:cNvPr id="17" name="Text 15"/>
          <p:cNvSpPr txBox="1"/>
          <p:nvPr/>
        </p:nvSpPr>
        <p:spPr>
          <a:xfrm>
            <a:off x="5257800" y="3291840"/>
            <a:ext cx="1600200" cy="640080"/>
          </a:xfrm>
          <a:prstGeom prst="rect">
            <a:avLst/>
          </a:prstGeom>
          <a:noFill/>
          <a:ln/>
        </p:spPr>
        <p:txBody>
          <a:bodyPr wrap="square" lIns="0" tIns="0" rIns="0" bIns="0" rtlCol="0" anchor="t"/>
          <a:lstStyle/>
          <a:p>
            <a:pPr algn="ctr" indent="0" marL="0">
              <a:buNone/>
            </a:pPr>
            <a:r>
              <a:rPr lang="en-US" sz="1200" dirty="0">
                <a:solidFill>
                  <a:schemeClr val="accent5"/>
                </a:solidFill>
              </a:rPr>
              <a:t>On hand − reserved</a:t>
            </a:r>
            <a:endParaRPr lang="en-US" sz="1200" dirty="0"/>
          </a:p>
        </p:txBody>
      </p:sp>
      <p:sp>
        <p:nvSpPr>
          <p:cNvPr id="18" name="Text 16"/>
          <p:cNvSpPr txBox="1"/>
          <p:nvPr/>
        </p:nvSpPr>
        <p:spPr>
          <a:xfrm>
            <a:off x="6995160" y="2468880"/>
            <a:ext cx="411480" cy="548640"/>
          </a:xfrm>
          <a:prstGeom prst="rect">
            <a:avLst/>
          </a:prstGeom>
          <a:noFill/>
          <a:ln/>
        </p:spPr>
        <p:txBody>
          <a:bodyPr wrap="square" lIns="0" tIns="0" rIns="0" bIns="0" rtlCol="0" anchor="t"/>
          <a:lstStyle/>
          <a:p>
            <a:pPr algn="ctr" indent="0" marL="0">
              <a:buNone/>
            </a:pPr>
            <a:r>
              <a:rPr lang="en-US" sz="3200" b="1" dirty="0">
                <a:solidFill>
                  <a:schemeClr val="accent2"/>
                </a:solidFill>
              </a:rPr>
              <a:t>+</a:t>
            </a:r>
            <a:endParaRPr lang="en-US" sz="3200" dirty="0"/>
          </a:p>
        </p:txBody>
      </p:sp>
      <p:sp>
        <p:nvSpPr>
          <p:cNvPr id="19" name="qty-3"/>
          <p:cNvSpPr/>
          <p:nvPr/>
        </p:nvSpPr>
        <p:spPr>
          <a:xfrm>
            <a:off x="7406640" y="1828800"/>
            <a:ext cx="1874520" cy="219456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20" name="Text 18"/>
          <p:cNvSpPr txBox="1"/>
          <p:nvPr/>
        </p:nvSpPr>
        <p:spPr>
          <a:xfrm>
            <a:off x="7543800" y="1965960"/>
            <a:ext cx="1600200" cy="914400"/>
          </a:xfrm>
          <a:prstGeom prst="rect">
            <a:avLst/>
          </a:prstGeom>
          <a:noFill/>
          <a:ln/>
        </p:spPr>
        <p:txBody>
          <a:bodyPr wrap="square" lIns="0" tIns="0" rIns="0" bIns="0" rtlCol="0" anchor="t"/>
          <a:lstStyle/>
          <a:p>
            <a:pPr algn="ctr" indent="0" marL="0">
              <a:buNone/>
            </a:pPr>
            <a:r>
              <a:rPr lang="en-US" sz="5400" b="1" dirty="0">
                <a:solidFill>
                  <a:schemeClr val="accent5"/>
                </a:solidFill>
                <a:latin typeface="Cambria" pitchFamily="34" charset="0"/>
                <a:ea typeface="Cambria" pitchFamily="34" charset="-122"/>
                <a:cs typeface="Cambria" pitchFamily="34" charset="-120"/>
              </a:rPr>
              <a:t>40</a:t>
            </a:r>
            <a:endParaRPr lang="en-US" sz="5400" dirty="0"/>
          </a:p>
        </p:txBody>
      </p:sp>
      <p:sp>
        <p:nvSpPr>
          <p:cNvPr id="21" name="Text 19"/>
          <p:cNvSpPr txBox="1"/>
          <p:nvPr/>
        </p:nvSpPr>
        <p:spPr>
          <a:xfrm>
            <a:off x="7543800" y="2926080"/>
            <a:ext cx="1600200" cy="365760"/>
          </a:xfrm>
          <a:prstGeom prst="rect">
            <a:avLst/>
          </a:prstGeom>
          <a:noFill/>
          <a:ln/>
        </p:spPr>
        <p:txBody>
          <a:bodyPr wrap="square" lIns="0" tIns="0" rIns="0" bIns="0" rtlCol="0" anchor="t"/>
          <a:lstStyle/>
          <a:p>
            <a:pPr algn="ctr" indent="0" marL="0">
              <a:buNone/>
            </a:pPr>
            <a:r>
              <a:rPr lang="en-US" sz="1700" b="1" dirty="0">
                <a:solidFill>
                  <a:schemeClr val="tx1"/>
                </a:solidFill>
              </a:rPr>
              <a:t>On order</a:t>
            </a:r>
            <a:endParaRPr lang="en-US" sz="1700" dirty="0"/>
          </a:p>
        </p:txBody>
      </p:sp>
      <p:sp>
        <p:nvSpPr>
          <p:cNvPr id="22" name="Text 20"/>
          <p:cNvSpPr txBox="1"/>
          <p:nvPr/>
        </p:nvSpPr>
        <p:spPr>
          <a:xfrm>
            <a:off x="7543800" y="3291840"/>
            <a:ext cx="1600200" cy="640080"/>
          </a:xfrm>
          <a:prstGeom prst="rect">
            <a:avLst/>
          </a:prstGeom>
          <a:noFill/>
          <a:ln/>
        </p:spPr>
        <p:txBody>
          <a:bodyPr wrap="square" lIns="0" tIns="0" rIns="0" bIns="0" rtlCol="0" anchor="t"/>
          <a:lstStyle/>
          <a:p>
            <a:pPr algn="ctr" indent="0" marL="0">
              <a:buNone/>
            </a:pPr>
            <a:r>
              <a:rPr lang="en-US" sz="1200" dirty="0">
                <a:solidFill>
                  <a:schemeClr val="accent5"/>
                </a:solidFill>
              </a:rPr>
              <a:t>Open PO lines not received</a:t>
            </a:r>
            <a:endParaRPr lang="en-US" sz="1200" dirty="0"/>
          </a:p>
        </p:txBody>
      </p:sp>
      <p:sp>
        <p:nvSpPr>
          <p:cNvPr id="23" name="Text 21"/>
          <p:cNvSpPr txBox="1"/>
          <p:nvPr/>
        </p:nvSpPr>
        <p:spPr>
          <a:xfrm>
            <a:off x="9281160" y="2468880"/>
            <a:ext cx="411480" cy="548640"/>
          </a:xfrm>
          <a:prstGeom prst="rect">
            <a:avLst/>
          </a:prstGeom>
          <a:noFill/>
          <a:ln/>
        </p:spPr>
        <p:txBody>
          <a:bodyPr wrap="square" lIns="0" tIns="0" rIns="0" bIns="0" rtlCol="0" anchor="t"/>
          <a:lstStyle/>
          <a:p>
            <a:pPr algn="ctr" indent="0" marL="0">
              <a:buNone/>
            </a:pPr>
            <a:r>
              <a:rPr lang="en-US" sz="3200" b="1" dirty="0">
                <a:solidFill>
                  <a:schemeClr val="accent2"/>
                </a:solidFill>
              </a:rPr>
              <a:t>=</a:t>
            </a:r>
            <a:endParaRPr lang="en-US" sz="3200" dirty="0"/>
          </a:p>
        </p:txBody>
      </p:sp>
      <p:sp>
        <p:nvSpPr>
          <p:cNvPr id="24" name="qty-4"/>
          <p:cNvSpPr/>
          <p:nvPr/>
        </p:nvSpPr>
        <p:spPr>
          <a:xfrm>
            <a:off x="9692640" y="1828800"/>
            <a:ext cx="1874520" cy="219456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25" name="Text 23"/>
          <p:cNvSpPr txBox="1"/>
          <p:nvPr/>
        </p:nvSpPr>
        <p:spPr>
          <a:xfrm>
            <a:off x="9829800" y="1965960"/>
            <a:ext cx="1600200" cy="914400"/>
          </a:xfrm>
          <a:prstGeom prst="rect">
            <a:avLst/>
          </a:prstGeom>
          <a:noFill/>
          <a:ln/>
        </p:spPr>
        <p:txBody>
          <a:bodyPr wrap="square" lIns="0" tIns="0" rIns="0" bIns="0" rtlCol="0" anchor="t"/>
          <a:lstStyle/>
          <a:p>
            <a:pPr algn="ctr" indent="0" marL="0">
              <a:buNone/>
            </a:pPr>
            <a:r>
              <a:rPr lang="en-US" sz="5400" b="1" dirty="0">
                <a:solidFill>
                  <a:schemeClr val="accent3"/>
                </a:solidFill>
                <a:latin typeface="Cambria" pitchFamily="34" charset="0"/>
                <a:ea typeface="Cambria" pitchFamily="34" charset="-122"/>
                <a:cs typeface="Cambria" pitchFamily="34" charset="-120"/>
              </a:rPr>
              <a:t>75</a:t>
            </a:r>
            <a:endParaRPr lang="en-US" sz="5400" dirty="0"/>
          </a:p>
        </p:txBody>
      </p:sp>
      <p:sp>
        <p:nvSpPr>
          <p:cNvPr id="26" name="Text 24"/>
          <p:cNvSpPr txBox="1"/>
          <p:nvPr/>
        </p:nvSpPr>
        <p:spPr>
          <a:xfrm>
            <a:off x="9829800" y="2926080"/>
            <a:ext cx="1600200" cy="365760"/>
          </a:xfrm>
          <a:prstGeom prst="rect">
            <a:avLst/>
          </a:prstGeom>
          <a:noFill/>
          <a:ln/>
        </p:spPr>
        <p:txBody>
          <a:bodyPr wrap="square" lIns="0" tIns="0" rIns="0" bIns="0" rtlCol="0" anchor="t"/>
          <a:lstStyle/>
          <a:p>
            <a:pPr algn="ctr" indent="0" marL="0">
              <a:buNone/>
            </a:pPr>
            <a:r>
              <a:rPr lang="en-US" sz="1700" b="1" dirty="0">
                <a:solidFill>
                  <a:schemeClr val="tx1"/>
                </a:solidFill>
              </a:rPr>
              <a:t>Anticipated</a:t>
            </a:r>
            <a:endParaRPr lang="en-US" sz="1700" dirty="0"/>
          </a:p>
        </p:txBody>
      </p:sp>
      <p:sp>
        <p:nvSpPr>
          <p:cNvPr id="27" name="Text 25"/>
          <p:cNvSpPr txBox="1"/>
          <p:nvPr/>
        </p:nvSpPr>
        <p:spPr>
          <a:xfrm>
            <a:off x="9829800" y="3291840"/>
            <a:ext cx="1600200" cy="640080"/>
          </a:xfrm>
          <a:prstGeom prst="rect">
            <a:avLst/>
          </a:prstGeom>
          <a:noFill/>
          <a:ln/>
        </p:spPr>
        <p:txBody>
          <a:bodyPr wrap="square" lIns="0" tIns="0" rIns="0" bIns="0" rtlCol="0" anchor="t"/>
          <a:lstStyle/>
          <a:p>
            <a:pPr algn="ctr" indent="0" marL="0">
              <a:buNone/>
            </a:pPr>
            <a:r>
              <a:rPr lang="en-US" sz="1200" dirty="0">
                <a:solidFill>
                  <a:schemeClr val="accent5"/>
                </a:solidFill>
              </a:rPr>
              <a:t>Available + on order</a:t>
            </a:r>
            <a:endParaRPr lang="en-US" sz="1200" dirty="0"/>
          </a:p>
        </p:txBody>
      </p:sp>
      <p:sp>
        <p:nvSpPr>
          <p:cNvPr id="28" name="Shape 26"/>
          <p:cNvSpPr/>
          <p:nvPr/>
        </p:nvSpPr>
        <p:spPr>
          <a:xfrm>
            <a:off x="548640" y="4434840"/>
            <a:ext cx="5394960" cy="1691640"/>
          </a:xfrm>
          <a:prstGeom prst="roundRect">
            <a:avLst>
              <a:gd name="adj" fmla="val 6486"/>
            </a:avLst>
          </a:prstGeom>
          <a:solidFill>
            <a:schemeClr val="bg2"/>
          </a:solidFill>
          <a:ln w="12700">
            <a:solidFill>
              <a:schemeClr val="bg2"/>
            </a:solidFill>
            <a:prstDash val="solid"/>
          </a:ln>
        </p:spPr>
      </p:sp>
      <p:sp>
        <p:nvSpPr>
          <p:cNvPr id="29" name="Shape 27"/>
          <p:cNvSpPr/>
          <p:nvPr/>
        </p:nvSpPr>
        <p:spPr>
          <a:xfrm>
            <a:off x="777240" y="4663440"/>
            <a:ext cx="548640" cy="548640"/>
          </a:xfrm>
          <a:prstGeom prst="ellipse">
            <a:avLst/>
          </a:prstGeom>
          <a:solidFill>
            <a:schemeClr val="accent2"/>
          </a:solidFill>
          <a:ln w="12700">
            <a:solidFill>
              <a:schemeClr val="accent2"/>
            </a:solidFill>
            <a:prstDash val="solid"/>
          </a:ln>
        </p:spPr>
      </p:sp>
      <p:pic>
        <p:nvPicPr>
          <p:cNvPr id="30" name="Image 0" descr="preencoded.png">    </p:cNvPr>
          <p:cNvPicPr>
            <a:picLocks noChangeAspect="1"/>
          </p:cNvPicPr>
          <p:nvPr/>
        </p:nvPicPr>
        <p:blipFill>
          <a:blip r:embed="rId1"/>
          <a:stretch>
            <a:fillRect/>
          </a:stretch>
        </p:blipFill>
        <p:spPr>
          <a:xfrm>
            <a:off x="914400" y="4800600"/>
            <a:ext cx="274320" cy="274320"/>
          </a:xfrm>
          <a:prstGeom prst="rect">
            <a:avLst/>
          </a:prstGeom>
        </p:spPr>
      </p:pic>
      <p:sp>
        <p:nvSpPr>
          <p:cNvPr id="31" name="Text 28"/>
          <p:cNvSpPr txBox="1"/>
          <p:nvPr/>
        </p:nvSpPr>
        <p:spPr>
          <a:xfrm>
            <a:off x="1508760" y="4663440"/>
            <a:ext cx="4297680" cy="411480"/>
          </a:xfrm>
          <a:prstGeom prst="rect">
            <a:avLst/>
          </a:prstGeom>
          <a:noFill/>
          <a:ln/>
        </p:spPr>
        <p:txBody>
          <a:bodyPr wrap="square" lIns="0" tIns="0" rIns="0" bIns="0" rtlCol="0" anchor="t"/>
          <a:lstStyle/>
          <a:p>
            <a:pPr indent="0" marL="0">
              <a:buNone/>
            </a:pPr>
            <a:r>
              <a:rPr lang="en-US" sz="1700" b="1" dirty="0">
                <a:solidFill>
                  <a:schemeClr val="tx1"/>
                </a:solidFill>
              </a:rPr>
              <a:t>Reorder point is 80</a:t>
            </a:r>
            <a:endParaRPr lang="en-US" sz="1700" dirty="0"/>
          </a:p>
        </p:txBody>
      </p:sp>
      <p:sp>
        <p:nvSpPr>
          <p:cNvPr id="32" name="Text 29"/>
          <p:cNvSpPr txBox="1"/>
          <p:nvPr/>
        </p:nvSpPr>
        <p:spPr>
          <a:xfrm>
            <a:off x="1508760" y="5074920"/>
            <a:ext cx="4297680" cy="914400"/>
          </a:xfrm>
          <a:prstGeom prst="rect">
            <a:avLst/>
          </a:prstGeom>
          <a:noFill/>
          <a:ln/>
        </p:spPr>
        <p:txBody>
          <a:bodyPr wrap="square" lIns="0" tIns="0" rIns="0" bIns="0" rtlCol="0" anchor="t"/>
          <a:lstStyle/>
          <a:p>
            <a:pPr indent="0" marL="0">
              <a:buNone/>
            </a:pPr>
            <a:r>
              <a:rPr lang="en-US" sz="1400" dirty="0">
                <a:solidFill>
                  <a:schemeClr val="accent5"/>
                </a:solidFill>
              </a:rPr>
              <a:t>Anticipated 75 is below 80, so the charger appears on Inventory → Reordering.</a:t>
            </a:r>
            <a:endParaRPr lang="en-US" sz="1400" dirty="0"/>
          </a:p>
        </p:txBody>
      </p:sp>
      <p:sp>
        <p:nvSpPr>
          <p:cNvPr id="33" name="Shape 30"/>
          <p:cNvSpPr/>
          <p:nvPr/>
        </p:nvSpPr>
        <p:spPr>
          <a:xfrm>
            <a:off x="6217920" y="4434840"/>
            <a:ext cx="5394960" cy="1691640"/>
          </a:xfrm>
          <a:prstGeom prst="roundRect">
            <a:avLst>
              <a:gd name="adj" fmla="val 6486"/>
            </a:avLst>
          </a:prstGeom>
          <a:solidFill>
            <a:schemeClr val="bg2"/>
          </a:solidFill>
          <a:ln w="12700">
            <a:solidFill>
              <a:schemeClr val="bg2"/>
            </a:solidFill>
            <a:prstDash val="solid"/>
          </a:ln>
        </p:spPr>
      </p:sp>
      <p:sp>
        <p:nvSpPr>
          <p:cNvPr id="34" name="Shape 31"/>
          <p:cNvSpPr/>
          <p:nvPr/>
        </p:nvSpPr>
        <p:spPr>
          <a:xfrm>
            <a:off x="6446520" y="4663440"/>
            <a:ext cx="548640" cy="548640"/>
          </a:xfrm>
          <a:prstGeom prst="ellipse">
            <a:avLst/>
          </a:prstGeom>
          <a:solidFill>
            <a:schemeClr val="accent1"/>
          </a:solidFill>
          <a:ln w="12700">
            <a:solidFill>
              <a:schemeClr val="accent1"/>
            </a:solidFill>
            <a:prstDash val="solid"/>
          </a:ln>
        </p:spPr>
      </p:sp>
      <p:pic>
        <p:nvPicPr>
          <p:cNvPr id="35" name="Image 1" descr="preencoded.png">    </p:cNvPr>
          <p:cNvPicPr>
            <a:picLocks noChangeAspect="1"/>
          </p:cNvPicPr>
          <p:nvPr/>
        </p:nvPicPr>
        <p:blipFill>
          <a:blip r:embed="rId2"/>
          <a:stretch>
            <a:fillRect/>
          </a:stretch>
        </p:blipFill>
        <p:spPr>
          <a:xfrm>
            <a:off x="6583680" y="4800600"/>
            <a:ext cx="274320" cy="274320"/>
          </a:xfrm>
          <a:prstGeom prst="rect">
            <a:avLst/>
          </a:prstGeom>
        </p:spPr>
      </p:pic>
      <p:sp>
        <p:nvSpPr>
          <p:cNvPr id="36" name="Text 32"/>
          <p:cNvSpPr txBox="1"/>
          <p:nvPr/>
        </p:nvSpPr>
        <p:spPr>
          <a:xfrm>
            <a:off x="7178040" y="4663440"/>
            <a:ext cx="4297680" cy="411480"/>
          </a:xfrm>
          <a:prstGeom prst="rect">
            <a:avLst/>
          </a:prstGeom>
          <a:noFill/>
          <a:ln/>
        </p:spPr>
        <p:txBody>
          <a:bodyPr wrap="square" lIns="0" tIns="0" rIns="0" bIns="0" rtlCol="0" anchor="t"/>
          <a:lstStyle/>
          <a:p>
            <a:pPr indent="0" marL="0">
              <a:buNone/>
            </a:pPr>
            <a:r>
              <a:rPr lang="en-US" sz="1700" b="1" dirty="0">
                <a:solidFill>
                  <a:schemeClr val="tx1"/>
                </a:solidFill>
              </a:rPr>
              <a:t>Why derive, not store?</a:t>
            </a:r>
            <a:endParaRPr lang="en-US" sz="1700" dirty="0"/>
          </a:p>
        </p:txBody>
      </p:sp>
      <p:sp>
        <p:nvSpPr>
          <p:cNvPr id="37" name="Text 33"/>
          <p:cNvSpPr txBox="1"/>
          <p:nvPr/>
        </p:nvSpPr>
        <p:spPr>
          <a:xfrm>
            <a:off x="7178040" y="5074920"/>
            <a:ext cx="4297680" cy="914400"/>
          </a:xfrm>
          <a:prstGeom prst="rect">
            <a:avLst/>
          </a:prstGeom>
          <a:noFill/>
          <a:ln/>
        </p:spPr>
        <p:txBody>
          <a:bodyPr wrap="square" lIns="0" tIns="0" rIns="0" bIns="0" rtlCol="0" anchor="t"/>
          <a:lstStyle/>
          <a:p>
            <a:pPr indent="0" marL="0">
              <a:buNone/>
            </a:pPr>
            <a:r>
              <a:rPr lang="en-US" sz="1400" dirty="0">
                <a:solidFill>
                  <a:schemeClr val="accent5"/>
                </a:solidFill>
              </a:rPr>
              <a:t>Worked out from open orders each time, so these numbers can never drift from the documents.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Sales order: quote to cash</a:t>
            </a:r>
            <a:endParaRPr lang="en-US" sz="3600" dirty="0"/>
          </a:p>
        </p:txBody>
      </p:sp>
      <p:sp>
        <p:nvSpPr>
          <p:cNvPr id="3" name="Shape 1"/>
          <p:cNvSpPr/>
          <p:nvPr/>
        </p:nvSpPr>
        <p:spPr>
          <a:xfrm>
            <a:off x="548640" y="1463040"/>
            <a:ext cx="502920" cy="5029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74370" y="1588770"/>
            <a:ext cx="251460" cy="251460"/>
          </a:xfrm>
          <a:prstGeom prst="rect">
            <a:avLst/>
          </a:prstGeom>
        </p:spPr>
      </p:pic>
      <p:sp>
        <p:nvSpPr>
          <p:cNvPr id="5" name="Text 2"/>
          <p:cNvSpPr txBox="1"/>
          <p:nvPr/>
        </p:nvSpPr>
        <p:spPr>
          <a:xfrm>
            <a:off x="1234440" y="1371600"/>
            <a:ext cx="4937760" cy="365760"/>
          </a:xfrm>
          <a:prstGeom prst="rect">
            <a:avLst/>
          </a:prstGeom>
          <a:noFill/>
          <a:ln/>
        </p:spPr>
        <p:txBody>
          <a:bodyPr wrap="square" lIns="0" tIns="0" rIns="0" bIns="0" rtlCol="0" anchor="t"/>
          <a:lstStyle/>
          <a:p>
            <a:pPr indent="0" marL="0">
              <a:buNone/>
            </a:pPr>
            <a:r>
              <a:rPr lang="en-US" sz="1700" b="1" dirty="0">
                <a:solidFill>
                  <a:schemeClr val="tx1"/>
                </a:solidFill>
              </a:rPr>
              <a:t>Convert to order</a:t>
            </a:r>
            <a:endParaRPr lang="en-US" sz="1700" dirty="0"/>
          </a:p>
        </p:txBody>
      </p:sp>
      <p:sp>
        <p:nvSpPr>
          <p:cNvPr id="6" name="Text 3"/>
          <p:cNvSpPr txBox="1"/>
          <p:nvPr/>
        </p:nvSpPr>
        <p:spPr>
          <a:xfrm>
            <a:off x="1234440" y="1755648"/>
            <a:ext cx="4937760" cy="411480"/>
          </a:xfrm>
          <a:prstGeom prst="rect">
            <a:avLst/>
          </a:prstGeom>
          <a:noFill/>
          <a:ln/>
        </p:spPr>
        <p:txBody>
          <a:bodyPr wrap="square" lIns="0" tIns="0" rIns="0" bIns="0" rtlCol="0" anchor="t"/>
          <a:lstStyle/>
          <a:p>
            <a:pPr indent="0" marL="0">
              <a:buNone/>
            </a:pPr>
            <a:r>
              <a:rPr lang="en-US" sz="1400" dirty="0">
                <a:solidFill>
                  <a:schemeClr val="accent5"/>
                </a:solidFill>
              </a:rPr>
              <a:t>Customer defaults fill in: price list, terms, rep</a:t>
            </a:r>
            <a:endParaRPr lang="en-US" sz="1400" dirty="0"/>
          </a:p>
        </p:txBody>
      </p:sp>
      <p:sp>
        <p:nvSpPr>
          <p:cNvPr id="7" name="Shape 4"/>
          <p:cNvSpPr/>
          <p:nvPr/>
        </p:nvSpPr>
        <p:spPr>
          <a:xfrm>
            <a:off x="548640" y="2423160"/>
            <a:ext cx="502920" cy="50292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674370" y="2548890"/>
            <a:ext cx="251460" cy="251460"/>
          </a:xfrm>
          <a:prstGeom prst="rect">
            <a:avLst/>
          </a:prstGeom>
        </p:spPr>
      </p:pic>
      <p:sp>
        <p:nvSpPr>
          <p:cNvPr id="9" name="Text 5"/>
          <p:cNvSpPr txBox="1"/>
          <p:nvPr/>
        </p:nvSpPr>
        <p:spPr>
          <a:xfrm>
            <a:off x="1234440" y="2331720"/>
            <a:ext cx="4937760" cy="365760"/>
          </a:xfrm>
          <a:prstGeom prst="rect">
            <a:avLst/>
          </a:prstGeom>
          <a:noFill/>
          <a:ln/>
        </p:spPr>
        <p:txBody>
          <a:bodyPr wrap="square" lIns="0" tIns="0" rIns="0" bIns="0" rtlCol="0" anchor="t"/>
          <a:lstStyle/>
          <a:p>
            <a:pPr indent="0" marL="0">
              <a:buNone/>
            </a:pPr>
            <a:r>
              <a:rPr lang="en-US" sz="1700" b="1" dirty="0">
                <a:solidFill>
                  <a:schemeClr val="tx1"/>
                </a:solidFill>
              </a:rPr>
              <a:t>Confirm order</a:t>
            </a:r>
            <a:endParaRPr lang="en-US" sz="1700" dirty="0"/>
          </a:p>
        </p:txBody>
      </p:sp>
      <p:sp>
        <p:nvSpPr>
          <p:cNvPr id="10" name="Text 6"/>
          <p:cNvSpPr txBox="1"/>
          <p:nvPr/>
        </p:nvSpPr>
        <p:spPr>
          <a:xfrm>
            <a:off x="1234440" y="2715768"/>
            <a:ext cx="4937760" cy="411480"/>
          </a:xfrm>
          <a:prstGeom prst="rect">
            <a:avLst/>
          </a:prstGeom>
          <a:noFill/>
          <a:ln/>
        </p:spPr>
        <p:txBody>
          <a:bodyPr wrap="square" lIns="0" tIns="0" rIns="0" bIns="0" rtlCol="0" anchor="t"/>
          <a:lstStyle/>
          <a:p>
            <a:pPr indent="0" marL="0">
              <a:buNone/>
            </a:pPr>
            <a:r>
              <a:rPr lang="en-US" sz="1400" dirty="0">
                <a:solidFill>
                  <a:schemeClr val="accent5"/>
                </a:solidFill>
              </a:rPr>
              <a:t>Only if over credit limit; Admin or Manager</a:t>
            </a:r>
            <a:endParaRPr lang="en-US" sz="1400" dirty="0"/>
          </a:p>
        </p:txBody>
      </p:sp>
      <p:sp>
        <p:nvSpPr>
          <p:cNvPr id="11" name="Shape 7"/>
          <p:cNvSpPr/>
          <p:nvPr/>
        </p:nvSpPr>
        <p:spPr>
          <a:xfrm>
            <a:off x="548640" y="3383280"/>
            <a:ext cx="502920" cy="5029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74370" y="3509010"/>
            <a:ext cx="251460" cy="251460"/>
          </a:xfrm>
          <a:prstGeom prst="rect">
            <a:avLst/>
          </a:prstGeom>
        </p:spPr>
      </p:pic>
      <p:sp>
        <p:nvSpPr>
          <p:cNvPr id="13" name="Text 8"/>
          <p:cNvSpPr txBox="1"/>
          <p:nvPr/>
        </p:nvSpPr>
        <p:spPr>
          <a:xfrm>
            <a:off x="1234440" y="3291840"/>
            <a:ext cx="4937760" cy="365760"/>
          </a:xfrm>
          <a:prstGeom prst="rect">
            <a:avLst/>
          </a:prstGeom>
          <a:noFill/>
          <a:ln/>
        </p:spPr>
        <p:txBody>
          <a:bodyPr wrap="square" lIns="0" tIns="0" rIns="0" bIns="0" rtlCol="0" anchor="t"/>
          <a:lstStyle/>
          <a:p>
            <a:pPr indent="0" marL="0">
              <a:buNone/>
            </a:pPr>
            <a:r>
              <a:rPr lang="en-US" sz="1700" b="1" dirty="0">
                <a:solidFill>
                  <a:schemeClr val="tx1"/>
                </a:solidFill>
              </a:rPr>
              <a:t>Start picking</a:t>
            </a:r>
            <a:endParaRPr lang="en-US" sz="1700" dirty="0"/>
          </a:p>
        </p:txBody>
      </p:sp>
      <p:sp>
        <p:nvSpPr>
          <p:cNvPr id="14" name="Text 9"/>
          <p:cNvSpPr txBox="1"/>
          <p:nvPr/>
        </p:nvSpPr>
        <p:spPr>
          <a:xfrm>
            <a:off x="1234440" y="3675888"/>
            <a:ext cx="4937760" cy="411480"/>
          </a:xfrm>
          <a:prstGeom prst="rect">
            <a:avLst/>
          </a:prstGeom>
          <a:noFill/>
          <a:ln/>
        </p:spPr>
        <p:txBody>
          <a:bodyPr wrap="square" lIns="0" tIns="0" rIns="0" bIns="0" rtlCol="0" anchor="t"/>
          <a:lstStyle/>
          <a:p>
            <a:pPr indent="0" marL="0">
              <a:buNone/>
            </a:pPr>
            <a:r>
              <a:rPr lang="en-US" sz="1400" dirty="0">
                <a:solidFill>
                  <a:schemeClr val="accent5"/>
                </a:solidFill>
              </a:rPr>
              <a:t>Locks the order 30 minutes; earliest-expiry lots first</a:t>
            </a:r>
            <a:endParaRPr lang="en-US" sz="1400" dirty="0"/>
          </a:p>
        </p:txBody>
      </p:sp>
      <p:sp>
        <p:nvSpPr>
          <p:cNvPr id="15" name="Shape 10"/>
          <p:cNvSpPr/>
          <p:nvPr/>
        </p:nvSpPr>
        <p:spPr>
          <a:xfrm>
            <a:off x="548640" y="4343400"/>
            <a:ext cx="502920" cy="50292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674370" y="4469130"/>
            <a:ext cx="251460" cy="251460"/>
          </a:xfrm>
          <a:prstGeom prst="rect">
            <a:avLst/>
          </a:prstGeom>
        </p:spPr>
      </p:pic>
      <p:sp>
        <p:nvSpPr>
          <p:cNvPr id="17" name="Text 11"/>
          <p:cNvSpPr txBox="1"/>
          <p:nvPr/>
        </p:nvSpPr>
        <p:spPr>
          <a:xfrm>
            <a:off x="1234440" y="4251960"/>
            <a:ext cx="4937760" cy="365760"/>
          </a:xfrm>
          <a:prstGeom prst="rect">
            <a:avLst/>
          </a:prstGeom>
          <a:noFill/>
          <a:ln/>
        </p:spPr>
        <p:txBody>
          <a:bodyPr wrap="square" lIns="0" tIns="0" rIns="0" bIns="0" rtlCol="0" anchor="t"/>
          <a:lstStyle/>
          <a:p>
            <a:pPr indent="0" marL="0">
              <a:buNone/>
            </a:pPr>
            <a:r>
              <a:rPr lang="en-US" sz="1700" b="1" dirty="0">
                <a:solidFill>
                  <a:schemeClr val="tx1"/>
                </a:solidFill>
              </a:rPr>
              <a:t>Pick all · Pack all · Ship all</a:t>
            </a:r>
            <a:endParaRPr lang="en-US" sz="1700" dirty="0"/>
          </a:p>
        </p:txBody>
      </p:sp>
      <p:sp>
        <p:nvSpPr>
          <p:cNvPr id="18" name="Text 12"/>
          <p:cNvSpPr txBox="1"/>
          <p:nvPr/>
        </p:nvSpPr>
        <p:spPr>
          <a:xfrm>
            <a:off x="1234440" y="4636008"/>
            <a:ext cx="4937760" cy="411480"/>
          </a:xfrm>
          <a:prstGeom prst="rect">
            <a:avLst/>
          </a:prstGeom>
          <a:noFill/>
          <a:ln/>
        </p:spPr>
        <p:txBody>
          <a:bodyPr wrap="square" lIns="0" tIns="0" rIns="0" bIns="0" rtlCol="0" anchor="t"/>
          <a:lstStyle/>
          <a:p>
            <a:pPr indent="0" marL="0">
              <a:buNone/>
            </a:pPr>
            <a:r>
              <a:rPr lang="en-US" sz="1400" dirty="0">
                <a:solidFill>
                  <a:schemeClr val="accent5"/>
                </a:solidFill>
              </a:rPr>
              <a:t>Partial is fine; the rest is a back order</a:t>
            </a:r>
            <a:endParaRPr lang="en-US" sz="1400" dirty="0"/>
          </a:p>
        </p:txBody>
      </p:sp>
      <p:sp>
        <p:nvSpPr>
          <p:cNvPr id="19" name="Shape 13"/>
          <p:cNvSpPr/>
          <p:nvPr/>
        </p:nvSpPr>
        <p:spPr>
          <a:xfrm>
            <a:off x="548640" y="5303520"/>
            <a:ext cx="502920" cy="502920"/>
          </a:xfrm>
          <a:prstGeom prst="ellipse">
            <a:avLst/>
          </a:prstGeom>
          <a:solidFill>
            <a:schemeClr val="accent1"/>
          </a:solidFill>
          <a:ln w="12700">
            <a:solidFill>
              <a:schemeClr val="accent1"/>
            </a:solidFill>
            <a:prstDash val="solid"/>
          </a:ln>
        </p:spPr>
      </p:sp>
      <p:pic>
        <p:nvPicPr>
          <p:cNvPr id="20" name="Image 4" descr="preencoded.png">    </p:cNvPr>
          <p:cNvPicPr>
            <a:picLocks noChangeAspect="1"/>
          </p:cNvPicPr>
          <p:nvPr/>
        </p:nvPicPr>
        <p:blipFill>
          <a:blip r:embed="rId5"/>
          <a:stretch>
            <a:fillRect/>
          </a:stretch>
        </p:blipFill>
        <p:spPr>
          <a:xfrm>
            <a:off x="674370" y="5429250"/>
            <a:ext cx="251460" cy="251460"/>
          </a:xfrm>
          <a:prstGeom prst="rect">
            <a:avLst/>
          </a:prstGeom>
        </p:spPr>
      </p:pic>
      <p:sp>
        <p:nvSpPr>
          <p:cNvPr id="21" name="Text 14"/>
          <p:cNvSpPr txBox="1"/>
          <p:nvPr/>
        </p:nvSpPr>
        <p:spPr>
          <a:xfrm>
            <a:off x="1234440" y="5212080"/>
            <a:ext cx="4937760" cy="365760"/>
          </a:xfrm>
          <a:prstGeom prst="rect">
            <a:avLst/>
          </a:prstGeom>
          <a:noFill/>
          <a:ln/>
        </p:spPr>
        <p:txBody>
          <a:bodyPr wrap="square" lIns="0" tIns="0" rIns="0" bIns="0" rtlCol="0" anchor="t"/>
          <a:lstStyle/>
          <a:p>
            <a:pPr indent="0" marL="0">
              <a:buNone/>
            </a:pPr>
            <a:r>
              <a:rPr lang="en-US" sz="1700" b="1" dirty="0">
                <a:solidFill>
                  <a:schemeClr val="tx1"/>
                </a:solidFill>
              </a:rPr>
              <a:t>Invoice today → Pay in full</a:t>
            </a:r>
            <a:endParaRPr lang="en-US" sz="1700" dirty="0"/>
          </a:p>
        </p:txBody>
      </p:sp>
      <p:sp>
        <p:nvSpPr>
          <p:cNvPr id="22" name="Text 15"/>
          <p:cNvSpPr txBox="1"/>
          <p:nvPr/>
        </p:nvSpPr>
        <p:spPr>
          <a:xfrm>
            <a:off x="1234440" y="5596128"/>
            <a:ext cx="4937760" cy="411480"/>
          </a:xfrm>
          <a:prstGeom prst="rect">
            <a:avLst/>
          </a:prstGeom>
          <a:noFill/>
          <a:ln/>
        </p:spPr>
        <p:txBody>
          <a:bodyPr wrap="square" lIns="0" tIns="0" rIns="0" bIns="0" rtlCol="0" anchor="t"/>
          <a:lstStyle/>
          <a:p>
            <a:pPr indent="0" marL="0">
              <a:buNone/>
            </a:pPr>
            <a:r>
              <a:rPr lang="en-US" sz="1400" dirty="0">
                <a:solidFill>
                  <a:schemeClr val="accent5"/>
                </a:solidFill>
              </a:rPr>
              <a:t>Cost of goods fixed at pick, so Profit shows</a:t>
            </a:r>
            <a:endParaRPr lang="en-US" sz="1400" dirty="0"/>
          </a:p>
        </p:txBody>
      </p:sp>
      <p:sp>
        <p:nvSpPr>
          <p:cNvPr id="23" name="statuses"/>
          <p:cNvSpPr/>
          <p:nvPr/>
        </p:nvSpPr>
        <p:spPr>
          <a:xfrm>
            <a:off x="6492240" y="1371600"/>
            <a:ext cx="5120640" cy="4572000"/>
          </a:xfrm>
          <a:prstGeom prst="roundRect">
            <a:avLst>
              <a:gd name="adj" fmla="val 2400"/>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24" name="Text 17"/>
          <p:cNvSpPr txBox="1"/>
          <p:nvPr/>
        </p:nvSpPr>
        <p:spPr>
          <a:xfrm>
            <a:off x="6766560" y="1554480"/>
            <a:ext cx="4663440" cy="411480"/>
          </a:xfrm>
          <a:prstGeom prst="rect">
            <a:avLst/>
          </a:prstGeom>
          <a:noFill/>
          <a:ln/>
        </p:spPr>
        <p:txBody>
          <a:bodyPr wrap="square" lIns="0" tIns="0" rIns="0" bIns="0" rtlCol="0" anchor="t"/>
          <a:lstStyle/>
          <a:p>
            <a:pPr indent="0" marL="0">
              <a:buNone/>
            </a:pPr>
            <a:r>
              <a:rPr lang="en-US" sz="1700" b="1" dirty="0">
                <a:solidFill>
                  <a:schemeClr val="tx2"/>
                </a:solidFill>
              </a:rPr>
              <a:t>Two statuses, worked out, never typed</a:t>
            </a:r>
            <a:endParaRPr lang="en-US" sz="1700" dirty="0"/>
          </a:p>
        </p:txBody>
      </p:sp>
      <p:sp>
        <p:nvSpPr>
          <p:cNvPr id="25" name="Text 18"/>
          <p:cNvSpPr txBox="1"/>
          <p:nvPr/>
        </p:nvSpPr>
        <p:spPr>
          <a:xfrm>
            <a:off x="6766560" y="2286000"/>
            <a:ext cx="4663440" cy="365760"/>
          </a:xfrm>
          <a:prstGeom prst="rect">
            <a:avLst/>
          </a:prstGeom>
          <a:noFill/>
          <a:ln/>
        </p:spPr>
        <p:txBody>
          <a:bodyPr wrap="square" lIns="0" tIns="0" rIns="0" bIns="0" rtlCol="0" anchor="t"/>
          <a:lstStyle/>
          <a:p>
            <a:pPr indent="0" marL="0">
              <a:buNone/>
            </a:pPr>
            <a:r>
              <a:rPr lang="en-US" sz="1400" b="1" dirty="0">
                <a:solidFill>
                  <a:schemeClr val="accent5"/>
                </a:solidFill>
              </a:rPr>
              <a:t>Inventory status: shipped?</a:t>
            </a:r>
            <a:endParaRPr lang="en-US" sz="1400" dirty="0"/>
          </a:p>
        </p:txBody>
      </p:sp>
      <p:sp>
        <p:nvSpPr>
          <p:cNvPr id="26" name="Shape 19"/>
          <p:cNvSpPr/>
          <p:nvPr/>
        </p:nvSpPr>
        <p:spPr>
          <a:xfrm>
            <a:off x="6766560" y="2743200"/>
            <a:ext cx="1078992" cy="502920"/>
          </a:xfrm>
          <a:prstGeom prst="roundRect">
            <a:avLst>
              <a:gd name="adj" fmla="val 49091"/>
            </a:avLst>
          </a:prstGeom>
          <a:solidFill>
            <a:schemeClr val="bg2"/>
          </a:solidFill>
          <a:ln w="12700">
            <a:solidFill>
              <a:schemeClr val="accent6"/>
            </a:solidFill>
            <a:prstDash val="solid"/>
          </a:ln>
        </p:spPr>
      </p:sp>
      <p:sp>
        <p:nvSpPr>
          <p:cNvPr id="27" name="Text 20"/>
          <p:cNvSpPr txBox="1"/>
          <p:nvPr/>
        </p:nvSpPr>
        <p:spPr>
          <a:xfrm>
            <a:off x="6766560" y="274320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Unconfirmed</a:t>
            </a:r>
            <a:endParaRPr lang="en-US" sz="1100" dirty="0"/>
          </a:p>
        </p:txBody>
      </p:sp>
      <p:sp>
        <p:nvSpPr>
          <p:cNvPr id="28" name="Shape 21"/>
          <p:cNvSpPr/>
          <p:nvPr/>
        </p:nvSpPr>
        <p:spPr>
          <a:xfrm>
            <a:off x="7936992" y="2743200"/>
            <a:ext cx="1078992" cy="502920"/>
          </a:xfrm>
          <a:prstGeom prst="roundRect">
            <a:avLst>
              <a:gd name="adj" fmla="val 49091"/>
            </a:avLst>
          </a:prstGeom>
          <a:solidFill>
            <a:schemeClr val="bg2"/>
          </a:solidFill>
          <a:ln w="12700">
            <a:solidFill>
              <a:schemeClr val="accent6"/>
            </a:solidFill>
            <a:prstDash val="solid"/>
          </a:ln>
        </p:spPr>
      </p:sp>
      <p:sp>
        <p:nvSpPr>
          <p:cNvPr id="29" name="Text 22"/>
          <p:cNvSpPr txBox="1"/>
          <p:nvPr/>
        </p:nvSpPr>
        <p:spPr>
          <a:xfrm>
            <a:off x="7936992" y="274320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Unfulfilled</a:t>
            </a:r>
            <a:endParaRPr lang="en-US" sz="1100" dirty="0"/>
          </a:p>
        </p:txBody>
      </p:sp>
      <p:sp>
        <p:nvSpPr>
          <p:cNvPr id="30" name="Shape 23"/>
          <p:cNvSpPr/>
          <p:nvPr/>
        </p:nvSpPr>
        <p:spPr>
          <a:xfrm>
            <a:off x="9107424" y="2743200"/>
            <a:ext cx="1078992" cy="502920"/>
          </a:xfrm>
          <a:prstGeom prst="roundRect">
            <a:avLst>
              <a:gd name="adj" fmla="val 49091"/>
            </a:avLst>
          </a:prstGeom>
          <a:solidFill>
            <a:schemeClr val="bg2"/>
          </a:solidFill>
          <a:ln w="12700">
            <a:solidFill>
              <a:schemeClr val="accent6"/>
            </a:solidFill>
            <a:prstDash val="solid"/>
          </a:ln>
        </p:spPr>
      </p:sp>
      <p:sp>
        <p:nvSpPr>
          <p:cNvPr id="31" name="Text 24"/>
          <p:cNvSpPr txBox="1"/>
          <p:nvPr/>
        </p:nvSpPr>
        <p:spPr>
          <a:xfrm>
            <a:off x="9107424" y="274320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Started</a:t>
            </a:r>
            <a:endParaRPr lang="en-US" sz="1100" dirty="0"/>
          </a:p>
        </p:txBody>
      </p:sp>
      <p:sp>
        <p:nvSpPr>
          <p:cNvPr id="32" name="Shape 25"/>
          <p:cNvSpPr/>
          <p:nvPr/>
        </p:nvSpPr>
        <p:spPr>
          <a:xfrm>
            <a:off x="10277856" y="2743200"/>
            <a:ext cx="1078992" cy="502920"/>
          </a:xfrm>
          <a:prstGeom prst="roundRect">
            <a:avLst>
              <a:gd name="adj" fmla="val 49091"/>
            </a:avLst>
          </a:prstGeom>
          <a:solidFill>
            <a:schemeClr val="accent3"/>
          </a:solidFill>
          <a:ln w="12700">
            <a:solidFill>
              <a:schemeClr val="accent3"/>
            </a:solidFill>
            <a:prstDash val="solid"/>
          </a:ln>
        </p:spPr>
      </p:sp>
      <p:sp>
        <p:nvSpPr>
          <p:cNvPr id="33" name="Text 26"/>
          <p:cNvSpPr txBox="1"/>
          <p:nvPr/>
        </p:nvSpPr>
        <p:spPr>
          <a:xfrm>
            <a:off x="10277856" y="2743200"/>
            <a:ext cx="1078992" cy="502920"/>
          </a:xfrm>
          <a:prstGeom prst="rect">
            <a:avLst/>
          </a:prstGeom>
          <a:noFill/>
          <a:ln/>
        </p:spPr>
        <p:txBody>
          <a:bodyPr wrap="square" lIns="0" tIns="0" rIns="0" bIns="0" rtlCol="0" anchor="ctr"/>
          <a:lstStyle/>
          <a:p>
            <a:pPr algn="ctr" indent="0" marL="0">
              <a:buNone/>
            </a:pPr>
            <a:r>
              <a:rPr lang="en-US" sz="1100" b="1" dirty="0">
                <a:solidFill>
                  <a:schemeClr val="bg1"/>
                </a:solidFill>
              </a:rPr>
              <a:t>Fulfilled</a:t>
            </a:r>
            <a:endParaRPr lang="en-US" sz="1100" dirty="0"/>
          </a:p>
        </p:txBody>
      </p:sp>
      <p:sp>
        <p:nvSpPr>
          <p:cNvPr id="34" name="Text 27"/>
          <p:cNvSpPr txBox="1"/>
          <p:nvPr/>
        </p:nvSpPr>
        <p:spPr>
          <a:xfrm>
            <a:off x="6766560" y="3977640"/>
            <a:ext cx="4663440" cy="365760"/>
          </a:xfrm>
          <a:prstGeom prst="rect">
            <a:avLst/>
          </a:prstGeom>
          <a:noFill/>
          <a:ln/>
        </p:spPr>
        <p:txBody>
          <a:bodyPr wrap="square" lIns="0" tIns="0" rIns="0" bIns="0" rtlCol="0" anchor="t"/>
          <a:lstStyle/>
          <a:p>
            <a:pPr indent="0" marL="0">
              <a:buNone/>
            </a:pPr>
            <a:r>
              <a:rPr lang="en-US" sz="1400" b="1" dirty="0">
                <a:solidFill>
                  <a:schemeClr val="accent5"/>
                </a:solidFill>
              </a:rPr>
              <a:t>Payment status: paid?</a:t>
            </a:r>
            <a:endParaRPr lang="en-US" sz="1400" dirty="0"/>
          </a:p>
        </p:txBody>
      </p:sp>
      <p:sp>
        <p:nvSpPr>
          <p:cNvPr id="35" name="Shape 28"/>
          <p:cNvSpPr/>
          <p:nvPr/>
        </p:nvSpPr>
        <p:spPr>
          <a:xfrm>
            <a:off x="6766560" y="4434840"/>
            <a:ext cx="1078992" cy="502920"/>
          </a:xfrm>
          <a:prstGeom prst="roundRect">
            <a:avLst>
              <a:gd name="adj" fmla="val 49091"/>
            </a:avLst>
          </a:prstGeom>
          <a:solidFill>
            <a:schemeClr val="bg2"/>
          </a:solidFill>
          <a:ln w="12700">
            <a:solidFill>
              <a:schemeClr val="accent6"/>
            </a:solidFill>
            <a:prstDash val="solid"/>
          </a:ln>
        </p:spPr>
      </p:sp>
      <p:sp>
        <p:nvSpPr>
          <p:cNvPr id="36" name="Text 29"/>
          <p:cNvSpPr txBox="1"/>
          <p:nvPr/>
        </p:nvSpPr>
        <p:spPr>
          <a:xfrm>
            <a:off x="6766560" y="443484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Uninvoiced</a:t>
            </a:r>
            <a:endParaRPr lang="en-US" sz="1100" dirty="0"/>
          </a:p>
        </p:txBody>
      </p:sp>
      <p:sp>
        <p:nvSpPr>
          <p:cNvPr id="37" name="Shape 30"/>
          <p:cNvSpPr/>
          <p:nvPr/>
        </p:nvSpPr>
        <p:spPr>
          <a:xfrm>
            <a:off x="7936992" y="4434840"/>
            <a:ext cx="1078992" cy="502920"/>
          </a:xfrm>
          <a:prstGeom prst="roundRect">
            <a:avLst>
              <a:gd name="adj" fmla="val 49091"/>
            </a:avLst>
          </a:prstGeom>
          <a:solidFill>
            <a:schemeClr val="bg2"/>
          </a:solidFill>
          <a:ln w="12700">
            <a:solidFill>
              <a:schemeClr val="accent6"/>
            </a:solidFill>
            <a:prstDash val="solid"/>
          </a:ln>
        </p:spPr>
      </p:sp>
      <p:sp>
        <p:nvSpPr>
          <p:cNvPr id="38" name="Text 31"/>
          <p:cNvSpPr txBox="1"/>
          <p:nvPr/>
        </p:nvSpPr>
        <p:spPr>
          <a:xfrm>
            <a:off x="7936992" y="443484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Invoiced</a:t>
            </a:r>
            <a:endParaRPr lang="en-US" sz="1100" dirty="0"/>
          </a:p>
        </p:txBody>
      </p:sp>
      <p:sp>
        <p:nvSpPr>
          <p:cNvPr id="39" name="Shape 32"/>
          <p:cNvSpPr/>
          <p:nvPr/>
        </p:nvSpPr>
        <p:spPr>
          <a:xfrm>
            <a:off x="9107424" y="4434840"/>
            <a:ext cx="1078992" cy="502920"/>
          </a:xfrm>
          <a:prstGeom prst="roundRect">
            <a:avLst>
              <a:gd name="adj" fmla="val 49091"/>
            </a:avLst>
          </a:prstGeom>
          <a:solidFill>
            <a:schemeClr val="bg2"/>
          </a:solidFill>
          <a:ln w="12700">
            <a:solidFill>
              <a:schemeClr val="accent6"/>
            </a:solidFill>
            <a:prstDash val="solid"/>
          </a:ln>
        </p:spPr>
      </p:sp>
      <p:sp>
        <p:nvSpPr>
          <p:cNvPr id="40" name="Text 33"/>
          <p:cNvSpPr txBox="1"/>
          <p:nvPr/>
        </p:nvSpPr>
        <p:spPr>
          <a:xfrm>
            <a:off x="9107424" y="4434840"/>
            <a:ext cx="1078992" cy="502920"/>
          </a:xfrm>
          <a:prstGeom prst="rect">
            <a:avLst/>
          </a:prstGeom>
          <a:noFill/>
          <a:ln/>
        </p:spPr>
        <p:txBody>
          <a:bodyPr wrap="square" lIns="0" tIns="0" rIns="0" bIns="0" rtlCol="0" anchor="ctr"/>
          <a:lstStyle/>
          <a:p>
            <a:pPr algn="ctr" indent="0" marL="0">
              <a:buNone/>
            </a:pPr>
            <a:r>
              <a:rPr lang="en-US" sz="1100" b="1" dirty="0">
                <a:solidFill>
                  <a:schemeClr val="tx1"/>
                </a:solidFill>
              </a:rPr>
              <a:t>Partial</a:t>
            </a:r>
            <a:endParaRPr lang="en-US" sz="1100" dirty="0"/>
          </a:p>
        </p:txBody>
      </p:sp>
      <p:sp>
        <p:nvSpPr>
          <p:cNvPr id="41" name="Shape 34"/>
          <p:cNvSpPr/>
          <p:nvPr/>
        </p:nvSpPr>
        <p:spPr>
          <a:xfrm>
            <a:off x="10277856" y="4434840"/>
            <a:ext cx="1078992" cy="502920"/>
          </a:xfrm>
          <a:prstGeom prst="roundRect">
            <a:avLst>
              <a:gd name="adj" fmla="val 49091"/>
            </a:avLst>
          </a:prstGeom>
          <a:solidFill>
            <a:schemeClr val="accent3"/>
          </a:solidFill>
          <a:ln w="12700">
            <a:solidFill>
              <a:schemeClr val="accent3"/>
            </a:solidFill>
            <a:prstDash val="solid"/>
          </a:ln>
        </p:spPr>
      </p:sp>
      <p:sp>
        <p:nvSpPr>
          <p:cNvPr id="42" name="Text 35"/>
          <p:cNvSpPr txBox="1"/>
          <p:nvPr/>
        </p:nvSpPr>
        <p:spPr>
          <a:xfrm>
            <a:off x="10277856" y="4434840"/>
            <a:ext cx="1078992" cy="502920"/>
          </a:xfrm>
          <a:prstGeom prst="rect">
            <a:avLst/>
          </a:prstGeom>
          <a:noFill/>
          <a:ln/>
        </p:spPr>
        <p:txBody>
          <a:bodyPr wrap="square" lIns="0" tIns="0" rIns="0" bIns="0" rtlCol="0" anchor="ctr"/>
          <a:lstStyle/>
          <a:p>
            <a:pPr algn="ctr" indent="0" marL="0">
              <a:buNone/>
            </a:pPr>
            <a:r>
              <a:rPr lang="en-US" sz="1100" b="1" dirty="0">
                <a:solidFill>
                  <a:schemeClr val="bg1"/>
                </a:solidFill>
              </a:rPr>
              <a:t>Paid</a:t>
            </a:r>
            <a:endParaRPr lang="en-US" sz="1100" dirty="0"/>
          </a:p>
        </p:txBody>
      </p:sp>
      <p:sp>
        <p:nvSpPr>
          <p:cNvPr id="43" name="Text 36"/>
          <p:cNvSpPr txBox="1"/>
          <p:nvPr/>
        </p:nvSpPr>
        <p:spPr>
          <a:xfrm>
            <a:off x="6766560" y="5257800"/>
            <a:ext cx="4663440" cy="594360"/>
          </a:xfrm>
          <a:prstGeom prst="rect">
            <a:avLst/>
          </a:prstGeom>
          <a:noFill/>
          <a:ln/>
        </p:spPr>
        <p:txBody>
          <a:bodyPr wrap="square" lIns="0" tIns="0" rIns="0" bIns="0" rtlCol="0" anchor="t"/>
          <a:lstStyle/>
          <a:p>
            <a:pPr indent="0" marL="0">
              <a:buNone/>
            </a:pPr>
            <a:r>
              <a:rPr lang="en-US" sz="1300" i="1" dirty="0">
                <a:solidFill>
                  <a:schemeClr val="accent5"/>
                </a:solidFill>
              </a:rPr>
              <a:t>They move independently: small shops often ship before they are paid, or the other way round.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Purchasing: reorder, approve, receive</a:t>
            </a:r>
            <a:endParaRPr lang="en-US" sz="3600" dirty="0"/>
          </a:p>
        </p:txBody>
      </p:sp>
      <p:sp>
        <p:nvSpPr>
          <p:cNvPr id="3" name="po-0"/>
          <p:cNvSpPr/>
          <p:nvPr/>
        </p:nvSpPr>
        <p:spPr>
          <a:xfrm>
            <a:off x="548640" y="1371600"/>
            <a:ext cx="5486400" cy="1005840"/>
          </a:xfrm>
          <a:prstGeom prst="roundRect">
            <a:avLst>
              <a:gd name="adj" fmla="val 10909"/>
            </a:avLst>
          </a:prstGeom>
          <a:solidFill>
            <a:schemeClr val="bg2"/>
          </a:solidFill>
          <a:ln w="12700">
            <a:solidFill>
              <a:schemeClr val="bg2"/>
            </a:solidFill>
            <a:prstDash val="solid"/>
          </a:ln>
        </p:spPr>
      </p:sp>
      <p:sp>
        <p:nvSpPr>
          <p:cNvPr id="4" name="Shape 2"/>
          <p:cNvSpPr/>
          <p:nvPr/>
        </p:nvSpPr>
        <p:spPr>
          <a:xfrm>
            <a:off x="731520" y="155448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1540" y="1714500"/>
            <a:ext cx="320040" cy="320040"/>
          </a:xfrm>
          <a:prstGeom prst="rect">
            <a:avLst/>
          </a:prstGeom>
        </p:spPr>
      </p:pic>
      <p:sp>
        <p:nvSpPr>
          <p:cNvPr id="6" name="Text 3"/>
          <p:cNvSpPr txBox="1"/>
          <p:nvPr/>
        </p:nvSpPr>
        <p:spPr>
          <a:xfrm>
            <a:off x="1554480" y="1508760"/>
            <a:ext cx="4297680" cy="365760"/>
          </a:xfrm>
          <a:prstGeom prst="rect">
            <a:avLst/>
          </a:prstGeom>
          <a:noFill/>
          <a:ln/>
        </p:spPr>
        <p:txBody>
          <a:bodyPr wrap="square" lIns="0" tIns="0" rIns="0" bIns="0" rtlCol="0" anchor="t"/>
          <a:lstStyle/>
          <a:p>
            <a:pPr indent="0" marL="0">
              <a:buNone/>
            </a:pPr>
            <a:r>
              <a:rPr lang="en-US" sz="1700" b="1" dirty="0">
                <a:solidFill>
                  <a:schemeClr val="tx1"/>
                </a:solidFill>
              </a:rPr>
              <a:t>Reordering</a:t>
            </a:r>
            <a:endParaRPr lang="en-US" sz="1700" dirty="0"/>
          </a:p>
        </p:txBody>
      </p:sp>
      <p:sp>
        <p:nvSpPr>
          <p:cNvPr id="7" name="Text 4"/>
          <p:cNvSpPr txBox="1"/>
          <p:nvPr/>
        </p:nvSpPr>
        <p:spPr>
          <a:xfrm>
            <a:off x="1554480" y="1874520"/>
            <a:ext cx="4297680" cy="457200"/>
          </a:xfrm>
          <a:prstGeom prst="rect">
            <a:avLst/>
          </a:prstGeom>
          <a:noFill/>
          <a:ln/>
        </p:spPr>
        <p:txBody>
          <a:bodyPr wrap="square" lIns="0" tIns="0" rIns="0" bIns="0" rtlCol="0" anchor="t"/>
          <a:lstStyle/>
          <a:p>
            <a:pPr indent="0" marL="0">
              <a:buNone/>
            </a:pPr>
            <a:r>
              <a:rPr lang="en-US" sz="1300" dirty="0">
                <a:solidFill>
                  <a:schemeClr val="accent5"/>
                </a:solidFill>
              </a:rPr>
              <a:t>Rows below reorder point; drafts POs grouped by vendor</a:t>
            </a:r>
            <a:endParaRPr lang="en-US" sz="1300" dirty="0"/>
          </a:p>
        </p:txBody>
      </p:sp>
      <p:sp>
        <p:nvSpPr>
          <p:cNvPr id="8" name="po-1"/>
          <p:cNvSpPr/>
          <p:nvPr/>
        </p:nvSpPr>
        <p:spPr>
          <a:xfrm>
            <a:off x="548640" y="2560320"/>
            <a:ext cx="5486400" cy="1005840"/>
          </a:xfrm>
          <a:prstGeom prst="roundRect">
            <a:avLst>
              <a:gd name="adj" fmla="val 10909"/>
            </a:avLst>
          </a:prstGeom>
          <a:solidFill>
            <a:schemeClr val="bg2"/>
          </a:solidFill>
          <a:ln w="12700">
            <a:solidFill>
              <a:schemeClr val="bg2"/>
            </a:solidFill>
            <a:prstDash val="solid"/>
          </a:ln>
        </p:spPr>
      </p:sp>
      <p:sp>
        <p:nvSpPr>
          <p:cNvPr id="9" name="Shape 6"/>
          <p:cNvSpPr/>
          <p:nvPr/>
        </p:nvSpPr>
        <p:spPr>
          <a:xfrm>
            <a:off x="731520" y="274320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891540" y="2903220"/>
            <a:ext cx="320040" cy="320040"/>
          </a:xfrm>
          <a:prstGeom prst="rect">
            <a:avLst/>
          </a:prstGeom>
        </p:spPr>
      </p:pic>
      <p:sp>
        <p:nvSpPr>
          <p:cNvPr id="11" name="Text 7"/>
          <p:cNvSpPr txBox="1"/>
          <p:nvPr/>
        </p:nvSpPr>
        <p:spPr>
          <a:xfrm>
            <a:off x="1554480" y="2697480"/>
            <a:ext cx="4297680" cy="365760"/>
          </a:xfrm>
          <a:prstGeom prst="rect">
            <a:avLst/>
          </a:prstGeom>
          <a:noFill/>
          <a:ln/>
        </p:spPr>
        <p:txBody>
          <a:bodyPr wrap="square" lIns="0" tIns="0" rIns="0" bIns="0" rtlCol="0" anchor="t"/>
          <a:lstStyle/>
          <a:p>
            <a:pPr indent="0" marL="0">
              <a:buNone/>
            </a:pPr>
            <a:r>
              <a:rPr lang="en-US" sz="1700" b="1" dirty="0">
                <a:solidFill>
                  <a:schemeClr val="tx1"/>
                </a:solidFill>
              </a:rPr>
              <a:t>Approve</a:t>
            </a:r>
            <a:endParaRPr lang="en-US" sz="1700" dirty="0"/>
          </a:p>
        </p:txBody>
      </p:sp>
      <p:sp>
        <p:nvSpPr>
          <p:cNvPr id="12" name="Text 8"/>
          <p:cNvSpPr txBox="1"/>
          <p:nvPr/>
        </p:nvSpPr>
        <p:spPr>
          <a:xfrm>
            <a:off x="1554480" y="3063240"/>
            <a:ext cx="4297680" cy="457200"/>
          </a:xfrm>
          <a:prstGeom prst="rect">
            <a:avLst/>
          </a:prstGeom>
          <a:noFill/>
          <a:ln/>
        </p:spPr>
        <p:txBody>
          <a:bodyPr wrap="square" lIns="0" tIns="0" rIns="0" bIns="0" rtlCol="0" anchor="t"/>
          <a:lstStyle/>
          <a:p>
            <a:pPr indent="0" marL="0">
              <a:buNone/>
            </a:pPr>
            <a:r>
              <a:rPr lang="en-US" sz="1300" dirty="0">
                <a:solidFill>
                  <a:schemeClr val="accent5"/>
                </a:solidFill>
              </a:rPr>
              <a:t>PO total in home currency must be within your approval limit</a:t>
            </a:r>
            <a:endParaRPr lang="en-US" sz="1300" dirty="0"/>
          </a:p>
        </p:txBody>
      </p:sp>
      <p:sp>
        <p:nvSpPr>
          <p:cNvPr id="13" name="po-2"/>
          <p:cNvSpPr/>
          <p:nvPr/>
        </p:nvSpPr>
        <p:spPr>
          <a:xfrm>
            <a:off x="548640" y="3749040"/>
            <a:ext cx="5486400" cy="1005840"/>
          </a:xfrm>
          <a:prstGeom prst="roundRect">
            <a:avLst>
              <a:gd name="adj" fmla="val 10909"/>
            </a:avLst>
          </a:prstGeom>
          <a:solidFill>
            <a:schemeClr val="bg2"/>
          </a:solidFill>
          <a:ln w="12700">
            <a:solidFill>
              <a:schemeClr val="bg2"/>
            </a:solidFill>
            <a:prstDash val="solid"/>
          </a:ln>
        </p:spPr>
      </p:sp>
      <p:sp>
        <p:nvSpPr>
          <p:cNvPr id="14" name="Shape 10"/>
          <p:cNvSpPr/>
          <p:nvPr/>
        </p:nvSpPr>
        <p:spPr>
          <a:xfrm>
            <a:off x="731520" y="393192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91540" y="4091940"/>
            <a:ext cx="320040" cy="320040"/>
          </a:xfrm>
          <a:prstGeom prst="rect">
            <a:avLst/>
          </a:prstGeom>
        </p:spPr>
      </p:pic>
      <p:sp>
        <p:nvSpPr>
          <p:cNvPr id="16" name="Text 11"/>
          <p:cNvSpPr txBox="1"/>
          <p:nvPr/>
        </p:nvSpPr>
        <p:spPr>
          <a:xfrm>
            <a:off x="1554480" y="3886200"/>
            <a:ext cx="4297680" cy="365760"/>
          </a:xfrm>
          <a:prstGeom prst="rect">
            <a:avLst/>
          </a:prstGeom>
          <a:noFill/>
          <a:ln/>
        </p:spPr>
        <p:txBody>
          <a:bodyPr wrap="square" lIns="0" tIns="0" rIns="0" bIns="0" rtlCol="0" anchor="t"/>
          <a:lstStyle/>
          <a:p>
            <a:pPr indent="0" marL="0">
              <a:buNone/>
            </a:pPr>
            <a:r>
              <a:rPr lang="en-US" sz="1700" b="1" dirty="0">
                <a:solidFill>
                  <a:schemeClr val="tx1"/>
                </a:solidFill>
              </a:rPr>
              <a:t>Receive</a:t>
            </a:r>
            <a:endParaRPr lang="en-US" sz="1700" dirty="0"/>
          </a:p>
        </p:txBody>
      </p:sp>
      <p:sp>
        <p:nvSpPr>
          <p:cNvPr id="17" name="Text 12"/>
          <p:cNvSpPr txBox="1"/>
          <p:nvPr/>
        </p:nvSpPr>
        <p:spPr>
          <a:xfrm>
            <a:off x="1554480" y="4251960"/>
            <a:ext cx="4297680" cy="457200"/>
          </a:xfrm>
          <a:prstGeom prst="rect">
            <a:avLst/>
          </a:prstGeom>
          <a:noFill/>
          <a:ln/>
        </p:spPr>
        <p:txBody>
          <a:bodyPr wrap="square" lIns="0" tIns="0" rIns="0" bIns="0" rtlCol="0" anchor="t"/>
          <a:lstStyle/>
          <a:p>
            <a:pPr indent="0" marL="0">
              <a:buNone/>
            </a:pPr>
            <a:r>
              <a:rPr lang="en-US" sz="1300" dirty="0">
                <a:solidFill>
                  <a:schemeClr val="accent5"/>
                </a:solidFill>
              </a:rPr>
              <a:t>Location, bin, lot and expiry or serial; partial is fine</a:t>
            </a:r>
            <a:endParaRPr lang="en-US" sz="1300" dirty="0"/>
          </a:p>
        </p:txBody>
      </p:sp>
      <p:sp>
        <p:nvSpPr>
          <p:cNvPr id="18" name="po-3"/>
          <p:cNvSpPr/>
          <p:nvPr/>
        </p:nvSpPr>
        <p:spPr>
          <a:xfrm>
            <a:off x="548640" y="4937760"/>
            <a:ext cx="5486400" cy="1005840"/>
          </a:xfrm>
          <a:prstGeom prst="roundRect">
            <a:avLst>
              <a:gd name="adj" fmla="val 10909"/>
            </a:avLst>
          </a:prstGeom>
          <a:solidFill>
            <a:schemeClr val="bg2"/>
          </a:solidFill>
          <a:ln w="12700">
            <a:solidFill>
              <a:schemeClr val="bg2"/>
            </a:solidFill>
            <a:prstDash val="solid"/>
          </a:ln>
        </p:spPr>
      </p:sp>
      <p:sp>
        <p:nvSpPr>
          <p:cNvPr id="19" name="Shape 14"/>
          <p:cNvSpPr/>
          <p:nvPr/>
        </p:nvSpPr>
        <p:spPr>
          <a:xfrm>
            <a:off x="731520" y="5120640"/>
            <a:ext cx="640080" cy="64008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891540" y="5280660"/>
            <a:ext cx="320040" cy="320040"/>
          </a:xfrm>
          <a:prstGeom prst="rect">
            <a:avLst/>
          </a:prstGeom>
        </p:spPr>
      </p:pic>
      <p:sp>
        <p:nvSpPr>
          <p:cNvPr id="21" name="Text 15"/>
          <p:cNvSpPr txBox="1"/>
          <p:nvPr/>
        </p:nvSpPr>
        <p:spPr>
          <a:xfrm>
            <a:off x="1554480" y="5074920"/>
            <a:ext cx="4297680" cy="365760"/>
          </a:xfrm>
          <a:prstGeom prst="rect">
            <a:avLst/>
          </a:prstGeom>
          <a:noFill/>
          <a:ln/>
        </p:spPr>
        <p:txBody>
          <a:bodyPr wrap="square" lIns="0" tIns="0" rIns="0" bIns="0" rtlCol="0" anchor="t"/>
          <a:lstStyle/>
          <a:p>
            <a:pPr indent="0" marL="0">
              <a:buNone/>
            </a:pPr>
            <a:r>
              <a:rPr lang="en-US" sz="1700" b="1" dirty="0">
                <a:solidFill>
                  <a:schemeClr val="tx1"/>
                </a:solidFill>
              </a:rPr>
              <a:t>Pay vendor</a:t>
            </a:r>
            <a:endParaRPr lang="en-US" sz="1700" dirty="0"/>
          </a:p>
        </p:txBody>
      </p:sp>
      <p:sp>
        <p:nvSpPr>
          <p:cNvPr id="22" name="Text 16"/>
          <p:cNvSpPr txBox="1"/>
          <p:nvPr/>
        </p:nvSpPr>
        <p:spPr>
          <a:xfrm>
            <a:off x="1554480" y="5440680"/>
            <a:ext cx="4297680" cy="457200"/>
          </a:xfrm>
          <a:prstGeom prst="rect">
            <a:avLst/>
          </a:prstGeom>
          <a:noFill/>
          <a:ln/>
        </p:spPr>
        <p:txBody>
          <a:bodyPr wrap="square" lIns="0" tIns="0" rIns="0" bIns="0" rtlCol="0" anchor="t"/>
          <a:lstStyle/>
          <a:p>
            <a:pPr indent="0" marL="0">
              <a:buNone/>
            </a:pPr>
            <a:r>
              <a:rPr lang="en-US" sz="1300" dirty="0">
                <a:solidFill>
                  <a:schemeClr val="accent5"/>
                </a:solidFill>
              </a:rPr>
              <a:t>Payment status: Unpaid → Partial → Paid</a:t>
            </a:r>
            <a:endParaRPr lang="en-US" sz="1300" dirty="0"/>
          </a:p>
        </p:txBody>
      </p:sp>
      <p:sp>
        <p:nvSpPr>
          <p:cNvPr id="23" name="Shape 17"/>
          <p:cNvSpPr/>
          <p:nvPr/>
        </p:nvSpPr>
        <p:spPr>
          <a:xfrm>
            <a:off x="6400800" y="1371600"/>
            <a:ext cx="5212080" cy="4572000"/>
          </a:xfrm>
          <a:prstGeom prst="roundRect">
            <a:avLst>
              <a:gd name="adj" fmla="val 2400"/>
            </a:avLst>
          </a:prstGeom>
          <a:solidFill>
            <a:schemeClr val="tx2"/>
          </a:solidFill>
          <a:ln w="12700">
            <a:solidFill>
              <a:schemeClr val="tx2"/>
            </a:solidFill>
            <a:prstDash val="solid"/>
          </a:ln>
        </p:spPr>
      </p:sp>
      <p:sp>
        <p:nvSpPr>
          <p:cNvPr id="24" name="Text 18"/>
          <p:cNvSpPr txBox="1"/>
          <p:nvPr/>
        </p:nvSpPr>
        <p:spPr>
          <a:xfrm>
            <a:off x="6720840" y="1600200"/>
            <a:ext cx="4663440" cy="411480"/>
          </a:xfrm>
          <a:prstGeom prst="rect">
            <a:avLst/>
          </a:prstGeom>
          <a:noFill/>
          <a:ln/>
        </p:spPr>
        <p:txBody>
          <a:bodyPr wrap="square" lIns="0" tIns="0" rIns="0" bIns="0" rtlCol="0" anchor="t"/>
          <a:lstStyle/>
          <a:p>
            <a:pPr indent="0" marL="0">
              <a:buNone/>
            </a:pPr>
            <a:r>
              <a:rPr lang="en-US" sz="1800" b="1" dirty="0">
                <a:solidFill>
                  <a:schemeClr val="bg1"/>
                </a:solidFill>
              </a:rPr>
              <a:t>Landed cost feeds average cost</a:t>
            </a:r>
            <a:endParaRPr lang="en-US" sz="1800" dirty="0"/>
          </a:p>
        </p:txBody>
      </p:sp>
      <p:sp>
        <p:nvSpPr>
          <p:cNvPr id="25" name="Text 19"/>
          <p:cNvSpPr txBox="1"/>
          <p:nvPr/>
        </p:nvSpPr>
        <p:spPr>
          <a:xfrm>
            <a:off x="6720840" y="2057400"/>
            <a:ext cx="4663440" cy="685800"/>
          </a:xfrm>
          <a:prstGeom prst="rect">
            <a:avLst/>
          </a:prstGeom>
          <a:noFill/>
          <a:ln/>
        </p:spPr>
        <p:txBody>
          <a:bodyPr wrap="square" lIns="0" tIns="0" rIns="0" bIns="0" rtlCol="0" anchor="t"/>
          <a:lstStyle/>
          <a:p>
            <a:pPr indent="0" marL="0">
              <a:buNone/>
            </a:pPr>
            <a:r>
              <a:rPr lang="en-US" sz="1400" dirty="0">
                <a:solidFill>
                  <a:schemeClr val="accent6"/>
                </a:solidFill>
              </a:rPr>
              <a:t>Freight, duty and other PO costs are spread over received lines (by value, weight or volume).</a:t>
            </a:r>
            <a:endParaRPr lang="en-US" sz="1400" dirty="0"/>
          </a:p>
        </p:txBody>
      </p:sp>
      <p:sp>
        <p:nvSpPr>
          <p:cNvPr id="26" name="Text 20"/>
          <p:cNvSpPr txBox="1"/>
          <p:nvPr/>
        </p:nvSpPr>
        <p:spPr>
          <a:xfrm>
            <a:off x="6720840" y="2834640"/>
            <a:ext cx="4663440" cy="685800"/>
          </a:xfrm>
          <a:prstGeom prst="rect">
            <a:avLst/>
          </a:prstGeom>
          <a:noFill/>
          <a:ln/>
        </p:spPr>
        <p:txBody>
          <a:bodyPr wrap="square" lIns="0" tIns="0" rIns="0" bIns="0" rtlCol="0" anchor="t"/>
          <a:lstStyle/>
          <a:p>
            <a:pPr indent="0" marL="0">
              <a:buNone/>
            </a:pPr>
            <a:r>
              <a:rPr lang="en-US" sz="1500" b="1" dirty="0">
                <a:solidFill>
                  <a:schemeClr val="accent2"/>
                </a:solidFill>
              </a:rPr>
              <a:t>New average = (old qty × old avg + received qty × landed cost) ÷ total qty</a:t>
            </a:r>
            <a:endParaRPr lang="en-US" sz="1500" dirty="0"/>
          </a:p>
        </p:txBody>
      </p:sp>
      <p:sp>
        <p:nvSpPr>
          <p:cNvPr id="27" name="Text 21"/>
          <p:cNvSpPr txBox="1"/>
          <p:nvPr/>
        </p:nvSpPr>
        <p:spPr>
          <a:xfrm>
            <a:off x="6720840" y="3657600"/>
            <a:ext cx="4663440" cy="320040"/>
          </a:xfrm>
          <a:prstGeom prst="rect">
            <a:avLst/>
          </a:prstGeom>
          <a:noFill/>
          <a:ln/>
        </p:spPr>
        <p:txBody>
          <a:bodyPr wrap="square" lIns="0" tIns="0" rIns="0" bIns="0" rtlCol="0" anchor="t"/>
          <a:lstStyle/>
          <a:p>
            <a:pPr indent="0" marL="0">
              <a:buNone/>
            </a:pPr>
            <a:r>
              <a:rPr lang="en-US" sz="1200" i="1" dirty="0">
                <a:solidFill>
                  <a:schemeClr val="accent6"/>
                </a:solidFill>
              </a:rPr>
              <a:t>Example (illustration)</a:t>
            </a:r>
            <a:endParaRPr lang="en-US" sz="1200" dirty="0"/>
          </a:p>
        </p:txBody>
      </p:sp>
      <p:sp>
        <p:nvSpPr>
          <p:cNvPr id="28" name="Text 22"/>
          <p:cNvSpPr txBox="1"/>
          <p:nvPr/>
        </p:nvSpPr>
        <p:spPr>
          <a:xfrm>
            <a:off x="6720840" y="4023360"/>
            <a:ext cx="4663440" cy="731520"/>
          </a:xfrm>
          <a:prstGeom prst="rect">
            <a:avLst/>
          </a:prstGeom>
          <a:noFill/>
          <a:ln/>
        </p:spPr>
        <p:txBody>
          <a:bodyPr wrap="square" lIns="0" tIns="0" rIns="0" bIns="0" rtlCol="0" anchor="t"/>
          <a:lstStyle/>
          <a:p>
            <a:pPr indent="0" marL="0">
              <a:buNone/>
            </a:pPr>
            <a:r>
              <a:rPr lang="en-US" sz="1500" dirty="0">
                <a:solidFill>
                  <a:schemeClr val="bg1"/>
                </a:solidFill>
              </a:rPr>
              <a:t>50 on hand at 100, receive 40 at landed 110</a:t>
            </a:r>
            <a:endParaRPr lang="en-US" sz="1500" dirty="0"/>
          </a:p>
          <a:p>
            <a:pPr indent="0" marL="0">
              <a:buNone/>
            </a:pPr>
            <a:r>
              <a:rPr lang="en-US" sz="1500" dirty="0">
                <a:solidFill>
                  <a:schemeClr val="bg1"/>
                </a:solidFill>
              </a:rPr>
              <a:t>(50 × 100 + 40 × 110) ÷ 90 = 104.44</a:t>
            </a:r>
            <a:endParaRPr lang="en-US" sz="1500" dirty="0"/>
          </a:p>
        </p:txBody>
      </p:sp>
      <p:sp>
        <p:nvSpPr>
          <p:cNvPr id="29" name="Text 23"/>
          <p:cNvSpPr txBox="1"/>
          <p:nvPr/>
        </p:nvSpPr>
        <p:spPr>
          <a:xfrm>
            <a:off x="6720840" y="5120640"/>
            <a:ext cx="4663440" cy="548640"/>
          </a:xfrm>
          <a:prstGeom prst="rect">
            <a:avLst/>
          </a:prstGeom>
          <a:noFill/>
          <a:ln/>
        </p:spPr>
        <p:txBody>
          <a:bodyPr wrap="square" lIns="0" tIns="0" rIns="0" bIns="0" rtlCol="0" anchor="t"/>
          <a:lstStyle/>
          <a:p>
            <a:pPr indent="0" marL="0">
              <a:buNone/>
            </a:pPr>
            <a:r>
              <a:rPr lang="en-US" sz="1300" i="1" dirty="0">
                <a:solidFill>
                  <a:schemeClr val="accent6"/>
                </a:solidFill>
              </a:rPr>
              <a:t>Only Admin, Manager and Purchasing see these numbers.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One ledger, safe without transactions</a:t>
            </a:r>
            <a:endParaRPr lang="en-US" sz="3600" dirty="0"/>
          </a:p>
        </p:txBody>
      </p:sp>
      <p:sp>
        <p:nvSpPr>
          <p:cNvPr id="3" name="Shape 1"/>
          <p:cNvSpPr/>
          <p:nvPr/>
        </p:nvSpPr>
        <p:spPr>
          <a:xfrm>
            <a:off x="548640" y="1417320"/>
            <a:ext cx="2468880" cy="594360"/>
          </a:xfrm>
          <a:prstGeom prst="roundRect">
            <a:avLst>
              <a:gd name="adj" fmla="val 18462"/>
            </a:avLst>
          </a:prstGeom>
          <a:solidFill>
            <a:schemeClr val="bg2"/>
          </a:solidFill>
          <a:ln w="12700">
            <a:solidFill>
              <a:schemeClr val="bg2"/>
            </a:solidFill>
            <a:prstDash val="solid"/>
          </a:ln>
        </p:spPr>
      </p:sp>
      <p:sp>
        <p:nvSpPr>
          <p:cNvPr id="4" name="Text 2"/>
          <p:cNvSpPr txBox="1"/>
          <p:nvPr/>
        </p:nvSpPr>
        <p:spPr>
          <a:xfrm>
            <a:off x="685800" y="141732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PO receive  +</a:t>
            </a:r>
            <a:endParaRPr lang="en-US" sz="1400" dirty="0"/>
          </a:p>
        </p:txBody>
      </p:sp>
      <p:sp>
        <p:nvSpPr>
          <p:cNvPr id="5" name="Shape 3"/>
          <p:cNvSpPr/>
          <p:nvPr/>
        </p:nvSpPr>
        <p:spPr>
          <a:xfrm>
            <a:off x="3017520" y="1719072"/>
            <a:ext cx="548640" cy="1572768"/>
          </a:xfrm>
          <a:prstGeom prst="line">
            <a:avLst/>
          </a:prstGeom>
          <a:noFill/>
          <a:ln w="15875">
            <a:solidFill>
              <a:schemeClr val="accent5"/>
            </a:solidFill>
            <a:prstDash val="solid"/>
            <a:tailEnd type="triangle"/>
          </a:ln>
        </p:spPr>
      </p:sp>
      <p:sp>
        <p:nvSpPr>
          <p:cNvPr id="6" name="Shape 4"/>
          <p:cNvSpPr/>
          <p:nvPr/>
        </p:nvSpPr>
        <p:spPr>
          <a:xfrm>
            <a:off x="548640" y="2194560"/>
            <a:ext cx="2468880" cy="594360"/>
          </a:xfrm>
          <a:prstGeom prst="roundRect">
            <a:avLst>
              <a:gd name="adj" fmla="val 18462"/>
            </a:avLst>
          </a:prstGeom>
          <a:solidFill>
            <a:schemeClr val="bg2"/>
          </a:solidFill>
          <a:ln w="12700">
            <a:solidFill>
              <a:schemeClr val="bg2"/>
            </a:solidFill>
            <a:prstDash val="solid"/>
          </a:ln>
        </p:spPr>
      </p:sp>
      <p:sp>
        <p:nvSpPr>
          <p:cNvPr id="7" name="Text 5"/>
          <p:cNvSpPr txBox="1"/>
          <p:nvPr/>
        </p:nvSpPr>
        <p:spPr>
          <a:xfrm>
            <a:off x="685800" y="219456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Sales pick  −</a:t>
            </a:r>
            <a:endParaRPr lang="en-US" sz="1400" dirty="0"/>
          </a:p>
        </p:txBody>
      </p:sp>
      <p:sp>
        <p:nvSpPr>
          <p:cNvPr id="8" name="Shape 6"/>
          <p:cNvSpPr/>
          <p:nvPr/>
        </p:nvSpPr>
        <p:spPr>
          <a:xfrm>
            <a:off x="3017520" y="2496312"/>
            <a:ext cx="548640" cy="795528"/>
          </a:xfrm>
          <a:prstGeom prst="line">
            <a:avLst/>
          </a:prstGeom>
          <a:noFill/>
          <a:ln w="15875">
            <a:solidFill>
              <a:schemeClr val="accent5"/>
            </a:solidFill>
            <a:prstDash val="solid"/>
            <a:tailEnd type="triangle"/>
          </a:ln>
        </p:spPr>
      </p:sp>
      <p:sp>
        <p:nvSpPr>
          <p:cNvPr id="9" name="Shape 7"/>
          <p:cNvSpPr/>
          <p:nvPr/>
        </p:nvSpPr>
        <p:spPr>
          <a:xfrm>
            <a:off x="548640" y="2971800"/>
            <a:ext cx="2468880" cy="594360"/>
          </a:xfrm>
          <a:prstGeom prst="roundRect">
            <a:avLst>
              <a:gd name="adj" fmla="val 18462"/>
            </a:avLst>
          </a:prstGeom>
          <a:solidFill>
            <a:schemeClr val="bg2"/>
          </a:solidFill>
          <a:ln w="12700">
            <a:solidFill>
              <a:schemeClr val="bg2"/>
            </a:solidFill>
            <a:prstDash val="solid"/>
          </a:ln>
        </p:spPr>
      </p:sp>
      <p:sp>
        <p:nvSpPr>
          <p:cNvPr id="10" name="Text 8"/>
          <p:cNvSpPr txBox="1"/>
          <p:nvPr/>
        </p:nvSpPr>
        <p:spPr>
          <a:xfrm>
            <a:off x="685800" y="297180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Adjustment  ±</a:t>
            </a:r>
            <a:endParaRPr lang="en-US" sz="1400" dirty="0"/>
          </a:p>
        </p:txBody>
      </p:sp>
      <p:sp>
        <p:nvSpPr>
          <p:cNvPr id="11" name="Shape 9"/>
          <p:cNvSpPr/>
          <p:nvPr/>
        </p:nvSpPr>
        <p:spPr>
          <a:xfrm>
            <a:off x="3017520" y="3273552"/>
            <a:ext cx="548640" cy="18288"/>
          </a:xfrm>
          <a:prstGeom prst="line">
            <a:avLst/>
          </a:prstGeom>
          <a:noFill/>
          <a:ln w="15875">
            <a:solidFill>
              <a:schemeClr val="accent5"/>
            </a:solidFill>
            <a:prstDash val="solid"/>
            <a:tailEnd type="triangle"/>
          </a:ln>
        </p:spPr>
      </p:sp>
      <p:sp>
        <p:nvSpPr>
          <p:cNvPr id="12" name="Shape 10"/>
          <p:cNvSpPr/>
          <p:nvPr/>
        </p:nvSpPr>
        <p:spPr>
          <a:xfrm>
            <a:off x="548640" y="3749040"/>
            <a:ext cx="2468880" cy="594360"/>
          </a:xfrm>
          <a:prstGeom prst="roundRect">
            <a:avLst>
              <a:gd name="adj" fmla="val 18462"/>
            </a:avLst>
          </a:prstGeom>
          <a:solidFill>
            <a:schemeClr val="bg2"/>
          </a:solidFill>
          <a:ln w="12700">
            <a:solidFill>
              <a:schemeClr val="bg2"/>
            </a:solidFill>
            <a:prstDash val="solid"/>
          </a:ln>
        </p:spPr>
      </p:sp>
      <p:sp>
        <p:nvSpPr>
          <p:cNvPr id="13" name="Text 11"/>
          <p:cNvSpPr txBox="1"/>
          <p:nvPr/>
        </p:nvSpPr>
        <p:spPr>
          <a:xfrm>
            <a:off x="685800" y="374904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Transfer  − / +</a:t>
            </a:r>
            <a:endParaRPr lang="en-US" sz="1400" dirty="0"/>
          </a:p>
        </p:txBody>
      </p:sp>
      <p:sp>
        <p:nvSpPr>
          <p:cNvPr id="14" name="Shape 12"/>
          <p:cNvSpPr/>
          <p:nvPr/>
        </p:nvSpPr>
        <p:spPr>
          <a:xfrm flipV="1">
            <a:off x="3017520" y="3291840"/>
            <a:ext cx="548640" cy="758952"/>
          </a:xfrm>
          <a:prstGeom prst="line">
            <a:avLst/>
          </a:prstGeom>
          <a:noFill/>
          <a:ln w="15875">
            <a:solidFill>
              <a:schemeClr val="accent5"/>
            </a:solidFill>
            <a:prstDash val="solid"/>
            <a:tailEnd type="triangle"/>
          </a:ln>
        </p:spPr>
      </p:sp>
      <p:sp>
        <p:nvSpPr>
          <p:cNvPr id="15" name="Shape 13"/>
          <p:cNvSpPr/>
          <p:nvPr/>
        </p:nvSpPr>
        <p:spPr>
          <a:xfrm>
            <a:off x="548640" y="4526280"/>
            <a:ext cx="2468880" cy="594360"/>
          </a:xfrm>
          <a:prstGeom prst="roundRect">
            <a:avLst>
              <a:gd name="adj" fmla="val 18462"/>
            </a:avLst>
          </a:prstGeom>
          <a:solidFill>
            <a:schemeClr val="bg2"/>
          </a:solidFill>
          <a:ln w="12700">
            <a:solidFill>
              <a:schemeClr val="bg2"/>
            </a:solidFill>
            <a:prstDash val="solid"/>
          </a:ln>
        </p:spPr>
      </p:sp>
      <p:sp>
        <p:nvSpPr>
          <p:cNvPr id="16" name="Text 14"/>
          <p:cNvSpPr txBox="1"/>
          <p:nvPr/>
        </p:nvSpPr>
        <p:spPr>
          <a:xfrm>
            <a:off x="685800" y="452628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Count variance  ±</a:t>
            </a:r>
            <a:endParaRPr lang="en-US" sz="1400" dirty="0"/>
          </a:p>
        </p:txBody>
      </p:sp>
      <p:sp>
        <p:nvSpPr>
          <p:cNvPr id="17" name="Shape 15"/>
          <p:cNvSpPr/>
          <p:nvPr/>
        </p:nvSpPr>
        <p:spPr>
          <a:xfrm flipV="1">
            <a:off x="3017520" y="3291840"/>
            <a:ext cx="548640" cy="1536192"/>
          </a:xfrm>
          <a:prstGeom prst="line">
            <a:avLst/>
          </a:prstGeom>
          <a:noFill/>
          <a:ln w="15875">
            <a:solidFill>
              <a:schemeClr val="accent5"/>
            </a:solidFill>
            <a:prstDash val="solid"/>
            <a:tailEnd type="triangle"/>
          </a:ln>
        </p:spPr>
      </p:sp>
      <p:sp>
        <p:nvSpPr>
          <p:cNvPr id="18" name="Shape 16"/>
          <p:cNvSpPr/>
          <p:nvPr/>
        </p:nvSpPr>
        <p:spPr>
          <a:xfrm>
            <a:off x="3566160" y="2560320"/>
            <a:ext cx="2103120" cy="1463040"/>
          </a:xfrm>
          <a:prstGeom prst="roundRect">
            <a:avLst>
              <a:gd name="adj" fmla="val 7500"/>
            </a:avLst>
          </a:prstGeom>
          <a:solidFill>
            <a:schemeClr val="accent1"/>
          </a:solidFill>
          <a:ln w="12700">
            <a:solidFill>
              <a:schemeClr val="accent1"/>
            </a:solidFill>
            <a:prstDash val="solid"/>
          </a:ln>
        </p:spPr>
      </p:sp>
      <p:sp>
        <p:nvSpPr>
          <p:cNvPr id="19" name="Text 17"/>
          <p:cNvSpPr txBox="1"/>
          <p:nvPr/>
        </p:nvSpPr>
        <p:spPr>
          <a:xfrm>
            <a:off x="3657600" y="2560320"/>
            <a:ext cx="1920240" cy="1463040"/>
          </a:xfrm>
          <a:prstGeom prst="rect">
            <a:avLst/>
          </a:prstGeom>
          <a:noFill/>
          <a:ln/>
        </p:spPr>
        <p:txBody>
          <a:bodyPr wrap="square" lIns="0" tIns="0" rIns="0" bIns="0" rtlCol="0" anchor="ctr"/>
          <a:lstStyle/>
          <a:p>
            <a:pPr algn="ctr" indent="0" marL="0">
              <a:buNone/>
            </a:pPr>
            <a:r>
              <a:rPr lang="en-US" sz="1700" b="1" dirty="0">
                <a:solidFill>
                  <a:schemeClr val="bg1"/>
                </a:solidFill>
              </a:rPr>
              <a:t>Movement</a:t>
            </a:r>
            <a:endParaRPr lang="en-US" sz="1400" dirty="0"/>
          </a:p>
          <a:p>
            <a:pPr algn="ctr" indent="0" marL="0">
              <a:buNone/>
            </a:pPr>
            <a:r>
              <a:rPr lang="en-US" sz="1300" dirty="0">
                <a:solidFill>
                  <a:schemeClr val="bg1"/>
                </a:solidFill>
              </a:rPr>
              <a:t>ledger, never edited</a:t>
            </a:r>
            <a:endParaRPr lang="en-US" sz="1400" dirty="0"/>
          </a:p>
        </p:txBody>
      </p:sp>
      <p:sp>
        <p:nvSpPr>
          <p:cNvPr id="20" name="Shape 18"/>
          <p:cNvSpPr/>
          <p:nvPr/>
        </p:nvSpPr>
        <p:spPr>
          <a:xfrm>
            <a:off x="5669280" y="3291840"/>
            <a:ext cx="457200" cy="0"/>
          </a:xfrm>
          <a:prstGeom prst="line">
            <a:avLst/>
          </a:prstGeom>
          <a:noFill/>
          <a:ln w="15875">
            <a:solidFill>
              <a:schemeClr val="accent5"/>
            </a:solidFill>
            <a:prstDash val="solid"/>
            <a:tailEnd type="triangle"/>
          </a:ln>
        </p:spPr>
      </p:sp>
      <p:sp>
        <p:nvSpPr>
          <p:cNvPr id="21" name="Shape 19"/>
          <p:cNvSpPr/>
          <p:nvPr/>
        </p:nvSpPr>
        <p:spPr>
          <a:xfrm>
            <a:off x="6126480" y="2560320"/>
            <a:ext cx="1737360" cy="1463040"/>
          </a:xfrm>
          <a:prstGeom prst="roundRect">
            <a:avLst>
              <a:gd name="adj" fmla="val 7500"/>
            </a:avLst>
          </a:prstGeom>
          <a:solidFill>
            <a:schemeClr val="accent3"/>
          </a:solidFill>
          <a:ln w="12700">
            <a:solidFill>
              <a:schemeClr val="accent3"/>
            </a:solidFill>
            <a:prstDash val="solid"/>
          </a:ln>
        </p:spPr>
      </p:sp>
      <p:sp>
        <p:nvSpPr>
          <p:cNvPr id="22" name="Text 20"/>
          <p:cNvSpPr txBox="1"/>
          <p:nvPr/>
        </p:nvSpPr>
        <p:spPr>
          <a:xfrm>
            <a:off x="6217920" y="2560320"/>
            <a:ext cx="1554480" cy="1463040"/>
          </a:xfrm>
          <a:prstGeom prst="rect">
            <a:avLst/>
          </a:prstGeom>
          <a:noFill/>
          <a:ln/>
        </p:spPr>
        <p:txBody>
          <a:bodyPr wrap="square" lIns="0" tIns="0" rIns="0" bIns="0" rtlCol="0" anchor="ctr"/>
          <a:lstStyle/>
          <a:p>
            <a:pPr algn="ctr" indent="0" marL="0">
              <a:buNone/>
            </a:pPr>
            <a:r>
              <a:rPr lang="en-US" sz="1700" b="1" dirty="0">
                <a:solidFill>
                  <a:schemeClr val="bg1"/>
                </a:solidFill>
              </a:rPr>
              <a:t>Balance</a:t>
            </a:r>
            <a:endParaRPr lang="en-US" sz="1400" dirty="0"/>
          </a:p>
          <a:p>
            <a:pPr algn="ctr" indent="0" marL="0">
              <a:buNone/>
            </a:pPr>
            <a:r>
              <a:rPr lang="en-US" sz="1300" dirty="0">
                <a:solidFill>
                  <a:schemeClr val="bg1"/>
                </a:solidFill>
              </a:rPr>
              <a:t>on hand</a:t>
            </a:r>
            <a:endParaRPr lang="en-US" sz="1400" dirty="0"/>
          </a:p>
        </p:txBody>
      </p:sp>
      <p:sp>
        <p:nvSpPr>
          <p:cNvPr id="23" name="Text 21"/>
          <p:cNvSpPr txBox="1"/>
          <p:nvPr/>
        </p:nvSpPr>
        <p:spPr>
          <a:xfrm>
            <a:off x="548640" y="5440680"/>
            <a:ext cx="7315200" cy="640080"/>
          </a:xfrm>
          <a:prstGeom prst="rect">
            <a:avLst/>
          </a:prstGeom>
          <a:noFill/>
          <a:ln/>
        </p:spPr>
        <p:txBody>
          <a:bodyPr wrap="square" lIns="0" tIns="0" rIns="0" bIns="0" rtlCol="0" anchor="t"/>
          <a:lstStyle/>
          <a:p>
            <a:pPr indent="0" marL="0">
              <a:buNone/>
            </a:pPr>
            <a:r>
              <a:rPr lang="en-US" sz="1400" i="1" dirty="0">
                <a:solidFill>
                  <a:schemeClr val="accent5"/>
                </a:solidFill>
              </a:rPr>
              <a:t>On hand = sum of movements, so stock on any past date can be rebuilt and every lot traced.</a:t>
            </a:r>
            <a:endParaRPr lang="en-US" sz="1400" dirty="0"/>
          </a:p>
        </p:txBody>
      </p:sp>
      <p:sp>
        <p:nvSpPr>
          <p:cNvPr id="24" name="race-test"/>
          <p:cNvSpPr/>
          <p:nvPr/>
        </p:nvSpPr>
        <p:spPr>
          <a:xfrm>
            <a:off x="8229600" y="1371600"/>
            <a:ext cx="3383280" cy="4709160"/>
          </a:xfrm>
          <a:prstGeom prst="roundRect">
            <a:avLst>
              <a:gd name="adj" fmla="val 3243"/>
            </a:avLst>
          </a:prstGeom>
          <a:solidFill>
            <a:schemeClr val="bg1"/>
          </a:solidFill>
          <a:ln w="12700">
            <a:solidFill>
              <a:schemeClr val="bg2"/>
            </a:solidFill>
            <a:prstDash val="solid"/>
          </a:ln>
          <a:effectLst>
            <a:outerShdw sx="100000" sy="100000" kx="0" ky="0" algn="bl" rotWithShape="0" blurRad="101600" dist="25400" dir="5400000">
              <a:srgbClr val="9AB3AE">
                <a:alpha val="35000"/>
              </a:srgbClr>
            </a:outerShdw>
          </a:effectLst>
        </p:spPr>
      </p:sp>
      <p:sp>
        <p:nvSpPr>
          <p:cNvPr id="25" name="Text 23"/>
          <p:cNvSpPr txBox="1"/>
          <p:nvPr/>
        </p:nvSpPr>
        <p:spPr>
          <a:xfrm>
            <a:off x="8503920" y="1554480"/>
            <a:ext cx="2926080" cy="365760"/>
          </a:xfrm>
          <a:prstGeom prst="rect">
            <a:avLst/>
          </a:prstGeom>
          <a:noFill/>
          <a:ln/>
        </p:spPr>
        <p:txBody>
          <a:bodyPr wrap="square" lIns="0" tIns="0" rIns="0" bIns="0" rtlCol="0" anchor="t"/>
          <a:lstStyle/>
          <a:p>
            <a:pPr indent="0" marL="0">
              <a:buNone/>
            </a:pPr>
            <a:r>
              <a:rPr lang="en-US" sz="1700" b="1" dirty="0">
                <a:solidFill>
                  <a:schemeClr val="tx2"/>
                </a:solidFill>
              </a:rPr>
              <a:t>Live race test</a:t>
            </a:r>
            <a:endParaRPr lang="en-US" sz="1700" dirty="0"/>
          </a:p>
        </p:txBody>
      </p:sp>
      <p:sp>
        <p:nvSpPr>
          <p:cNvPr id="26" name="Text 24"/>
          <p:cNvSpPr txBox="1"/>
          <p:nvPr/>
        </p:nvSpPr>
        <p:spPr>
          <a:xfrm>
            <a:off x="8503920" y="1965960"/>
            <a:ext cx="2926080" cy="594360"/>
          </a:xfrm>
          <a:prstGeom prst="rect">
            <a:avLst/>
          </a:prstGeom>
          <a:noFill/>
          <a:ln/>
        </p:spPr>
        <p:txBody>
          <a:bodyPr wrap="square" lIns="0" tIns="0" rIns="0" bIns="0" rtlCol="0" anchor="t"/>
          <a:lstStyle/>
          <a:p>
            <a:pPr indent="0" marL="0">
              <a:buNone/>
            </a:pPr>
            <a:r>
              <a:rPr lang="en-US" sz="1300" dirty="0">
                <a:solidFill>
                  <a:schemeClr val="accent5"/>
                </a:solidFill>
              </a:rPr>
              <a:t>12 people grab from 10 units at the same moment</a:t>
            </a:r>
            <a:endParaRPr lang="en-US" sz="1300" dirty="0"/>
          </a:p>
        </p:txBody>
      </p:sp>
      <p:sp>
        <p:nvSpPr>
          <p:cNvPr id="27" name="Text 25"/>
          <p:cNvSpPr txBox="1"/>
          <p:nvPr/>
        </p:nvSpPr>
        <p:spPr>
          <a:xfrm>
            <a:off x="8503920" y="2697480"/>
            <a:ext cx="1005840" cy="73152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10</a:t>
            </a:r>
            <a:endParaRPr lang="en-US" sz="4400" dirty="0"/>
          </a:p>
        </p:txBody>
      </p:sp>
      <p:sp>
        <p:nvSpPr>
          <p:cNvPr id="28" name="Text 26"/>
          <p:cNvSpPr txBox="1"/>
          <p:nvPr/>
        </p:nvSpPr>
        <p:spPr>
          <a:xfrm>
            <a:off x="9555480" y="2834640"/>
            <a:ext cx="1920240" cy="457200"/>
          </a:xfrm>
          <a:prstGeom prst="rect">
            <a:avLst/>
          </a:prstGeom>
          <a:noFill/>
          <a:ln/>
        </p:spPr>
        <p:txBody>
          <a:bodyPr wrap="square" lIns="0" tIns="0" rIns="0" bIns="0" rtlCol="0" anchor="ctr"/>
          <a:lstStyle/>
          <a:p>
            <a:pPr indent="0" marL="0">
              <a:buNone/>
            </a:pPr>
            <a:r>
              <a:rPr lang="en-US" sz="1600" b="1" dirty="0">
                <a:solidFill>
                  <a:schemeClr val="tx1"/>
                </a:solidFill>
              </a:rPr>
              <a:t>posted</a:t>
            </a:r>
            <a:endParaRPr lang="en-US" sz="1600" dirty="0"/>
          </a:p>
        </p:txBody>
      </p:sp>
      <p:sp>
        <p:nvSpPr>
          <p:cNvPr id="29" name="Text 27"/>
          <p:cNvSpPr txBox="1"/>
          <p:nvPr/>
        </p:nvSpPr>
        <p:spPr>
          <a:xfrm>
            <a:off x="8503920" y="3566160"/>
            <a:ext cx="1005840" cy="731520"/>
          </a:xfrm>
          <a:prstGeom prst="rect">
            <a:avLst/>
          </a:prstGeom>
          <a:noFill/>
          <a:ln/>
        </p:spPr>
        <p:txBody>
          <a:bodyPr wrap="square" lIns="0" tIns="0" rIns="0" bIns="0" rtlCol="0" anchor="t"/>
          <a:lstStyle/>
          <a:p>
            <a:pPr indent="0" marL="0">
              <a:buNone/>
            </a:pPr>
            <a:r>
              <a:rPr lang="en-US" sz="4400" b="1" dirty="0">
                <a:solidFill>
                  <a:schemeClr val="accent4"/>
                </a:solidFill>
                <a:latin typeface="Cambria" pitchFamily="34" charset="0"/>
                <a:ea typeface="Cambria" pitchFamily="34" charset="-122"/>
                <a:cs typeface="Cambria" pitchFamily="34" charset="-120"/>
              </a:rPr>
              <a:t>2</a:t>
            </a:r>
            <a:endParaRPr lang="en-US" sz="4400" dirty="0"/>
          </a:p>
        </p:txBody>
      </p:sp>
      <p:sp>
        <p:nvSpPr>
          <p:cNvPr id="30" name="Text 28"/>
          <p:cNvSpPr txBox="1"/>
          <p:nvPr/>
        </p:nvSpPr>
        <p:spPr>
          <a:xfrm>
            <a:off x="9555480" y="3703320"/>
            <a:ext cx="1920240" cy="457200"/>
          </a:xfrm>
          <a:prstGeom prst="rect">
            <a:avLst/>
          </a:prstGeom>
          <a:noFill/>
          <a:ln/>
        </p:spPr>
        <p:txBody>
          <a:bodyPr wrap="square" lIns="0" tIns="0" rIns="0" bIns="0" rtlCol="0" anchor="ctr"/>
          <a:lstStyle/>
          <a:p>
            <a:pPr indent="0" marL="0">
              <a:buNone/>
            </a:pPr>
            <a:r>
              <a:rPr lang="en-US" sz="1600" b="1" dirty="0">
                <a:solidFill>
                  <a:schemeClr val="tx1"/>
                </a:solidFill>
              </a:rPr>
              <a:t>refused</a:t>
            </a:r>
            <a:endParaRPr lang="en-US" sz="1600" dirty="0"/>
          </a:p>
        </p:txBody>
      </p:sp>
      <p:sp>
        <p:nvSpPr>
          <p:cNvPr id="31" name="Text 29"/>
          <p:cNvSpPr txBox="1"/>
          <p:nvPr/>
        </p:nvSpPr>
        <p:spPr>
          <a:xfrm>
            <a:off x="8503920" y="4434840"/>
            <a:ext cx="1005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32" name="Text 30"/>
          <p:cNvSpPr txBox="1"/>
          <p:nvPr/>
        </p:nvSpPr>
        <p:spPr>
          <a:xfrm>
            <a:off x="9555480" y="4572000"/>
            <a:ext cx="1920240" cy="457200"/>
          </a:xfrm>
          <a:prstGeom prst="rect">
            <a:avLst/>
          </a:prstGeom>
          <a:noFill/>
          <a:ln/>
        </p:spPr>
        <p:txBody>
          <a:bodyPr wrap="square" lIns="0" tIns="0" rIns="0" bIns="0" rtlCol="0" anchor="ctr"/>
          <a:lstStyle/>
          <a:p>
            <a:pPr indent="0" marL="0">
              <a:buNone/>
            </a:pPr>
            <a:r>
              <a:rPr lang="en-US" sz="1600" b="1" dirty="0">
                <a:solidFill>
                  <a:schemeClr val="tx1"/>
                </a:solidFill>
              </a:rPr>
              <a:t>left, exactly</a:t>
            </a:r>
            <a:endParaRPr lang="en-US" sz="1600" dirty="0"/>
          </a:p>
        </p:txBody>
      </p:sp>
      <p:sp>
        <p:nvSpPr>
          <p:cNvPr id="33" name="Text 31"/>
          <p:cNvSpPr txBox="1"/>
          <p:nvPr/>
        </p:nvSpPr>
        <p:spPr>
          <a:xfrm>
            <a:off x="8503920" y="5257800"/>
            <a:ext cx="2926080" cy="731520"/>
          </a:xfrm>
          <a:prstGeom prst="rect">
            <a:avLst/>
          </a:prstGeom>
          <a:noFill/>
          <a:ln/>
        </p:spPr>
        <p:txBody>
          <a:bodyPr wrap="square" lIns="0" tIns="0" rIns="0" bIns="0" rtlCol="0" anchor="t"/>
          <a:lstStyle/>
          <a:p>
            <a:pPr indent="0" marL="0">
              <a:buNone/>
            </a:pPr>
            <a:r>
              <a:rPr lang="en-US" sz="1200" dirty="0">
                <a:solidFill>
                  <a:schemeClr val="accent5"/>
                </a:solidFill>
              </a:rPr>
              <a:t>Each balance row has a version; it only updates if nobody changed it first, else retry.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Data model: 60 schemas around one ledger</a:t>
            </a:r>
            <a:endParaRPr lang="en-US" sz="3600" dirty="0"/>
          </a:p>
        </p:txBody>
      </p:sp>
      <p:sp>
        <p:nvSpPr>
          <p:cNvPr id="3" name="Shape 1"/>
          <p:cNvSpPr/>
          <p:nvPr/>
        </p:nvSpPr>
        <p:spPr>
          <a:xfrm>
            <a:off x="4480560" y="2971800"/>
            <a:ext cx="3200400" cy="1325880"/>
          </a:xfrm>
          <a:prstGeom prst="roundRect">
            <a:avLst>
              <a:gd name="adj" fmla="val 8276"/>
            </a:avLst>
          </a:prstGeom>
          <a:solidFill>
            <a:schemeClr val="accent2"/>
          </a:solidFill>
          <a:ln w="12700">
            <a:solidFill>
              <a:schemeClr val="accent2"/>
            </a:solidFill>
            <a:prstDash val="solid"/>
          </a:ln>
        </p:spPr>
      </p:sp>
      <p:sp>
        <p:nvSpPr>
          <p:cNvPr id="4" name="Text 2"/>
          <p:cNvSpPr txBox="1"/>
          <p:nvPr/>
        </p:nvSpPr>
        <p:spPr>
          <a:xfrm>
            <a:off x="4617720" y="2971800"/>
            <a:ext cx="2926080" cy="1325880"/>
          </a:xfrm>
          <a:prstGeom prst="rect">
            <a:avLst/>
          </a:prstGeom>
          <a:noFill/>
          <a:ln/>
        </p:spPr>
        <p:txBody>
          <a:bodyPr wrap="square" lIns="0" tIns="0" rIns="0" bIns="0" rtlCol="0" anchor="ctr"/>
          <a:lstStyle/>
          <a:p>
            <a:pPr algn="ctr" indent="0" marL="0">
              <a:buNone/>
            </a:pPr>
            <a:r>
              <a:rPr lang="en-US" sz="1900" b="1" dirty="0">
                <a:solidFill>
                  <a:schemeClr val="tx2"/>
                </a:solidFill>
              </a:rPr>
              <a:t>Stock ledger</a:t>
            </a:r>
            <a:endParaRPr lang="en-US" sz="1400" dirty="0"/>
          </a:p>
          <a:p>
            <a:pPr algn="ctr" indent="0" marL="0">
              <a:buNone/>
            </a:pPr>
            <a:r>
              <a:rPr lang="en-US" sz="1200" dirty="0">
                <a:solidFill>
                  <a:schemeClr val="tx2"/>
                </a:solidFill>
              </a:rPr>
              <a:t>Location, Lot, InventoryMovement, InventoryBalance</a:t>
            </a:r>
            <a:endParaRPr lang="en-US" sz="1400" dirty="0"/>
          </a:p>
        </p:txBody>
      </p:sp>
      <p:sp>
        <p:nvSpPr>
          <p:cNvPr id="5" name="domain-0"/>
          <p:cNvSpPr/>
          <p:nvPr/>
        </p:nvSpPr>
        <p:spPr>
          <a:xfrm>
            <a:off x="548640" y="1371600"/>
            <a:ext cx="3200400" cy="1325880"/>
          </a:xfrm>
          <a:prstGeom prst="roundRect">
            <a:avLst>
              <a:gd name="adj" fmla="val 8276"/>
            </a:avLst>
          </a:prstGeom>
          <a:solidFill>
            <a:schemeClr val="bg2"/>
          </a:solidFill>
          <a:ln w="12700">
            <a:solidFill>
              <a:schemeClr val="bg2"/>
            </a:solidFill>
            <a:prstDash val="solid"/>
          </a:ln>
        </p:spPr>
      </p:sp>
      <p:sp>
        <p:nvSpPr>
          <p:cNvPr id="6" name="Text 4"/>
          <p:cNvSpPr txBox="1"/>
          <p:nvPr/>
        </p:nvSpPr>
        <p:spPr>
          <a:xfrm>
            <a:off x="777240" y="15544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Company &amp; settings</a:t>
            </a:r>
            <a:endParaRPr lang="en-US" sz="1600" dirty="0"/>
          </a:p>
        </p:txBody>
      </p:sp>
      <p:sp>
        <p:nvSpPr>
          <p:cNvPr id="7" name="Text 5"/>
          <p:cNvSpPr txBox="1"/>
          <p:nvPr/>
        </p:nvSpPr>
        <p:spPr>
          <a:xfrm>
            <a:off x="777240" y="19659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Company, Currency, TaxingScheme, NumberingRule</a:t>
            </a:r>
            <a:endParaRPr lang="en-US" sz="1200" dirty="0"/>
          </a:p>
        </p:txBody>
      </p:sp>
      <p:sp>
        <p:nvSpPr>
          <p:cNvPr id="8" name="domain-1"/>
          <p:cNvSpPr/>
          <p:nvPr/>
        </p:nvSpPr>
        <p:spPr>
          <a:xfrm>
            <a:off x="4480560" y="1371600"/>
            <a:ext cx="3200400" cy="1325880"/>
          </a:xfrm>
          <a:prstGeom prst="roundRect">
            <a:avLst>
              <a:gd name="adj" fmla="val 8276"/>
            </a:avLst>
          </a:prstGeom>
          <a:solidFill>
            <a:schemeClr val="bg2"/>
          </a:solidFill>
          <a:ln w="12700">
            <a:solidFill>
              <a:schemeClr val="bg2"/>
            </a:solidFill>
            <a:prstDash val="solid"/>
          </a:ln>
        </p:spPr>
      </p:sp>
      <p:sp>
        <p:nvSpPr>
          <p:cNvPr id="9" name="Text 7"/>
          <p:cNvSpPr txBox="1"/>
          <p:nvPr/>
        </p:nvSpPr>
        <p:spPr>
          <a:xfrm>
            <a:off x="4709160" y="15544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Catalog &amp; pricing</a:t>
            </a:r>
            <a:endParaRPr lang="en-US" sz="1600" dirty="0"/>
          </a:p>
        </p:txBody>
      </p:sp>
      <p:sp>
        <p:nvSpPr>
          <p:cNvPr id="10" name="Text 8"/>
          <p:cNvSpPr txBox="1"/>
          <p:nvPr/>
        </p:nvSpPr>
        <p:spPr>
          <a:xfrm>
            <a:off x="4709160" y="19659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Product, Category, PricingScheme, VendorItem</a:t>
            </a:r>
            <a:endParaRPr lang="en-US" sz="1200" dirty="0"/>
          </a:p>
        </p:txBody>
      </p:sp>
      <p:sp>
        <p:nvSpPr>
          <p:cNvPr id="11" name="domain-2"/>
          <p:cNvSpPr/>
          <p:nvPr/>
        </p:nvSpPr>
        <p:spPr>
          <a:xfrm>
            <a:off x="8412480" y="1371600"/>
            <a:ext cx="3200400" cy="1325880"/>
          </a:xfrm>
          <a:prstGeom prst="roundRect">
            <a:avLst>
              <a:gd name="adj" fmla="val 8276"/>
            </a:avLst>
          </a:prstGeom>
          <a:solidFill>
            <a:schemeClr val="bg2"/>
          </a:solidFill>
          <a:ln w="12700">
            <a:solidFill>
              <a:schemeClr val="bg2"/>
            </a:solidFill>
            <a:prstDash val="solid"/>
          </a:ln>
        </p:spPr>
      </p:sp>
      <p:sp>
        <p:nvSpPr>
          <p:cNvPr id="12" name="Text 10"/>
          <p:cNvSpPr txBox="1"/>
          <p:nvPr/>
        </p:nvSpPr>
        <p:spPr>
          <a:xfrm>
            <a:off x="8641080" y="15544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Customers &amp; vendors</a:t>
            </a:r>
            <a:endParaRPr lang="en-US" sz="1600" dirty="0"/>
          </a:p>
        </p:txBody>
      </p:sp>
      <p:sp>
        <p:nvSpPr>
          <p:cNvPr id="13" name="Text 11"/>
          <p:cNvSpPr txBox="1"/>
          <p:nvPr/>
        </p:nvSpPr>
        <p:spPr>
          <a:xfrm>
            <a:off x="8641080" y="19659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Customer, Vendor</a:t>
            </a:r>
            <a:endParaRPr lang="en-US" sz="1200" dirty="0"/>
          </a:p>
        </p:txBody>
      </p:sp>
      <p:sp>
        <p:nvSpPr>
          <p:cNvPr id="14" name="domain-3"/>
          <p:cNvSpPr/>
          <p:nvPr/>
        </p:nvSpPr>
        <p:spPr>
          <a:xfrm>
            <a:off x="548640" y="2971800"/>
            <a:ext cx="3200400" cy="1325880"/>
          </a:xfrm>
          <a:prstGeom prst="roundRect">
            <a:avLst>
              <a:gd name="adj" fmla="val 8276"/>
            </a:avLst>
          </a:prstGeom>
          <a:solidFill>
            <a:schemeClr val="bg2"/>
          </a:solidFill>
          <a:ln w="12700">
            <a:solidFill>
              <a:schemeClr val="bg2"/>
            </a:solidFill>
            <a:prstDash val="solid"/>
          </a:ln>
        </p:spPr>
      </p:sp>
      <p:sp>
        <p:nvSpPr>
          <p:cNvPr id="15" name="Text 13"/>
          <p:cNvSpPr txBox="1"/>
          <p:nvPr/>
        </p:nvSpPr>
        <p:spPr>
          <a:xfrm>
            <a:off x="777240" y="31546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Sales</a:t>
            </a:r>
            <a:endParaRPr lang="en-US" sz="1600" dirty="0"/>
          </a:p>
        </p:txBody>
      </p:sp>
      <p:sp>
        <p:nvSpPr>
          <p:cNvPr id="16" name="Text 14"/>
          <p:cNvSpPr txBox="1"/>
          <p:nvPr/>
        </p:nvSpPr>
        <p:spPr>
          <a:xfrm>
            <a:off x="777240" y="35661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SalesOrder with lines, packages, shipments</a:t>
            </a:r>
            <a:endParaRPr lang="en-US" sz="1200" dirty="0"/>
          </a:p>
        </p:txBody>
      </p:sp>
      <p:sp>
        <p:nvSpPr>
          <p:cNvPr id="17" name="domain-4"/>
          <p:cNvSpPr/>
          <p:nvPr/>
        </p:nvSpPr>
        <p:spPr>
          <a:xfrm>
            <a:off x="8412480" y="2971800"/>
            <a:ext cx="3200400" cy="1325880"/>
          </a:xfrm>
          <a:prstGeom prst="roundRect">
            <a:avLst>
              <a:gd name="adj" fmla="val 8276"/>
            </a:avLst>
          </a:prstGeom>
          <a:solidFill>
            <a:schemeClr val="bg2"/>
          </a:solidFill>
          <a:ln w="12700">
            <a:solidFill>
              <a:schemeClr val="bg2"/>
            </a:solidFill>
            <a:prstDash val="solid"/>
          </a:ln>
        </p:spPr>
      </p:sp>
      <p:sp>
        <p:nvSpPr>
          <p:cNvPr id="18" name="Text 16"/>
          <p:cNvSpPr txBox="1"/>
          <p:nvPr/>
        </p:nvSpPr>
        <p:spPr>
          <a:xfrm>
            <a:off x="8641080" y="31546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Purchasing</a:t>
            </a:r>
            <a:endParaRPr lang="en-US" sz="1600" dirty="0"/>
          </a:p>
        </p:txBody>
      </p:sp>
      <p:sp>
        <p:nvSpPr>
          <p:cNvPr id="19" name="Text 17"/>
          <p:cNvSpPr txBox="1"/>
          <p:nvPr/>
        </p:nvSpPr>
        <p:spPr>
          <a:xfrm>
            <a:off x="8641080" y="35661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PurchaseOrder with lines, extra costs</a:t>
            </a:r>
            <a:endParaRPr lang="en-US" sz="1200" dirty="0"/>
          </a:p>
        </p:txBody>
      </p:sp>
      <p:sp>
        <p:nvSpPr>
          <p:cNvPr id="20" name="domain-5"/>
          <p:cNvSpPr/>
          <p:nvPr/>
        </p:nvSpPr>
        <p:spPr>
          <a:xfrm>
            <a:off x="548640" y="4572000"/>
            <a:ext cx="3200400" cy="1325880"/>
          </a:xfrm>
          <a:prstGeom prst="roundRect">
            <a:avLst>
              <a:gd name="adj" fmla="val 8276"/>
            </a:avLst>
          </a:prstGeom>
          <a:solidFill>
            <a:schemeClr val="bg2"/>
          </a:solidFill>
          <a:ln w="12700">
            <a:solidFill>
              <a:schemeClr val="bg2"/>
            </a:solidFill>
            <a:prstDash val="solid"/>
          </a:ln>
        </p:spPr>
      </p:sp>
      <p:sp>
        <p:nvSpPr>
          <p:cNvPr id="21" name="Text 19"/>
          <p:cNvSpPr txBox="1"/>
          <p:nvPr/>
        </p:nvSpPr>
        <p:spPr>
          <a:xfrm>
            <a:off x="777240" y="47548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Stock documents</a:t>
            </a:r>
            <a:endParaRPr lang="en-US" sz="1600" dirty="0"/>
          </a:p>
        </p:txBody>
      </p:sp>
      <p:sp>
        <p:nvSpPr>
          <p:cNvPr id="22" name="Text 20"/>
          <p:cNvSpPr txBox="1"/>
          <p:nvPr/>
        </p:nvSpPr>
        <p:spPr>
          <a:xfrm>
            <a:off x="777240" y="51663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Adjustment, Transfer, Count</a:t>
            </a:r>
            <a:endParaRPr lang="en-US" sz="1200" dirty="0"/>
          </a:p>
        </p:txBody>
      </p:sp>
      <p:sp>
        <p:nvSpPr>
          <p:cNvPr id="23" name="domain-6"/>
          <p:cNvSpPr/>
          <p:nvPr/>
        </p:nvSpPr>
        <p:spPr>
          <a:xfrm>
            <a:off x="4480560" y="4572000"/>
            <a:ext cx="3200400" cy="1325880"/>
          </a:xfrm>
          <a:prstGeom prst="roundRect">
            <a:avLst>
              <a:gd name="adj" fmla="val 8276"/>
            </a:avLst>
          </a:prstGeom>
          <a:solidFill>
            <a:schemeClr val="bg2"/>
          </a:solidFill>
          <a:ln w="12700">
            <a:solidFill>
              <a:schemeClr val="bg2"/>
            </a:solidFill>
            <a:prstDash val="solid"/>
          </a:ln>
        </p:spPr>
      </p:sp>
      <p:sp>
        <p:nvSpPr>
          <p:cNvPr id="24" name="Text 22"/>
          <p:cNvSpPr txBox="1"/>
          <p:nvPr/>
        </p:nvSpPr>
        <p:spPr>
          <a:xfrm>
            <a:off x="4709160" y="47548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Reordering</a:t>
            </a:r>
            <a:endParaRPr lang="en-US" sz="1600" dirty="0"/>
          </a:p>
        </p:txBody>
      </p:sp>
      <p:sp>
        <p:nvSpPr>
          <p:cNvPr id="25" name="Text 23"/>
          <p:cNvSpPr txBox="1"/>
          <p:nvPr/>
        </p:nvSpPr>
        <p:spPr>
          <a:xfrm>
            <a:off x="4709160" y="51663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ReorderSetting, ReorderSuggestion</a:t>
            </a:r>
            <a:endParaRPr lang="en-US" sz="1200" dirty="0"/>
          </a:p>
        </p:txBody>
      </p:sp>
      <p:sp>
        <p:nvSpPr>
          <p:cNvPr id="26" name="domain-7"/>
          <p:cNvSpPr/>
          <p:nvPr/>
        </p:nvSpPr>
        <p:spPr>
          <a:xfrm>
            <a:off x="8412480" y="4572000"/>
            <a:ext cx="3200400" cy="1325880"/>
          </a:xfrm>
          <a:prstGeom prst="roundRect">
            <a:avLst>
              <a:gd name="adj" fmla="val 8276"/>
            </a:avLst>
          </a:prstGeom>
          <a:solidFill>
            <a:schemeClr val="bg2"/>
          </a:solidFill>
          <a:ln w="12700">
            <a:solidFill>
              <a:schemeClr val="bg2"/>
            </a:solidFill>
            <a:prstDash val="solid"/>
          </a:ln>
        </p:spPr>
      </p:sp>
      <p:sp>
        <p:nvSpPr>
          <p:cNvPr id="27" name="Text 25"/>
          <p:cNvSpPr txBox="1"/>
          <p:nvPr/>
        </p:nvSpPr>
        <p:spPr>
          <a:xfrm>
            <a:off x="8641080" y="47548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Fixed assets</a:t>
            </a:r>
            <a:endParaRPr lang="en-US" sz="1600" dirty="0"/>
          </a:p>
        </p:txBody>
      </p:sp>
      <p:sp>
        <p:nvSpPr>
          <p:cNvPr id="28" name="Text 26"/>
          <p:cNvSpPr txBox="1"/>
          <p:nvPr/>
        </p:nvSpPr>
        <p:spPr>
          <a:xfrm>
            <a:off x="8641080" y="5166360"/>
            <a:ext cx="2743200" cy="640080"/>
          </a:xfrm>
          <a:prstGeom prst="rect">
            <a:avLst/>
          </a:prstGeom>
          <a:noFill/>
          <a:ln/>
        </p:spPr>
        <p:txBody>
          <a:bodyPr wrap="square" lIns="0" tIns="0" rIns="0" bIns="0" rtlCol="0" anchor="t"/>
          <a:lstStyle/>
          <a:p>
            <a:pPr indent="0" marL="0">
              <a:buNone/>
            </a:pPr>
            <a:r>
              <a:rPr lang="en-US" sz="1200" dirty="0">
                <a:solidFill>
                  <a:schemeClr val="accent5"/>
                </a:solidFill>
              </a:rPr>
              <a:t>FixedAsset, DepreciationEntry, Run</a:t>
            </a:r>
            <a:endParaRPr lang="en-US" sz="1200" dirty="0"/>
          </a:p>
        </p:txBody>
      </p:sp>
      <p:sp>
        <p:nvSpPr>
          <p:cNvPr id="29" name="Text 27"/>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200" b="1" dirty="0">
                <a:solidFill>
                  <a:schemeClr val="accent5"/>
                </a:solidFill>
              </a:rPr>
              <a:t>Plus: </a:t>
            </a:r>
            <a:pPr indent="0" marL="0">
              <a:buNone/>
            </a:pPr>
            <a:r>
              <a:rPr lang="en-US" sz="1200" dirty="0">
                <a:solidFill>
                  <a:schemeClr val="accent5"/>
                </a:solidFill>
              </a:rPr>
              <a:t>Payments (Payment, PartyBalance), reports (daily summaries, SavedReport), TeamMemberProfile. Lines live inside their order: one save, no transaction needed.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Who can do what</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566160"/>
                <a:gridCol w="1069848"/>
                <a:gridCol w="1069848"/>
                <a:gridCol w="1069848"/>
                <a:gridCol w="1069848"/>
                <a:gridCol w="1069848"/>
                <a:gridCol w="1069848"/>
                <a:gridCol w="1078992"/>
              </a:tblGrid>
              <a:tr h="365760">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Sales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Purch.</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Wareh.</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Prod.</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Read</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Team, settings, locations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Products, categories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Price lists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Customers, sales orders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Confirm sales orders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Pick, pack, ship</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Vendors, POs, reordering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Receive POs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Adjust, transfer, count</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Review counts, negative stock</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Payments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See cost and margin</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Known limits, said up front</a:t>
            </a:r>
            <a:endParaRPr lang="en-US" sz="3600" dirty="0"/>
          </a:p>
        </p:txBody>
      </p:sp>
      <p:sp>
        <p:nvSpPr>
          <p:cNvPr id="3" name="limit-0"/>
          <p:cNvSpPr/>
          <p:nvPr/>
        </p:nvSpPr>
        <p:spPr>
          <a:xfrm>
            <a:off x="548640" y="1325880"/>
            <a:ext cx="5440680" cy="1463040"/>
          </a:xfrm>
          <a:prstGeom prst="roundRect">
            <a:avLst>
              <a:gd name="adj" fmla="val 7500"/>
            </a:avLst>
          </a:prstGeom>
          <a:solidFill>
            <a:schemeClr val="bg2"/>
          </a:solidFill>
          <a:ln w="12700">
            <a:solidFill>
              <a:schemeClr val="bg2"/>
            </a:solidFill>
            <a:prstDash val="solid"/>
          </a:ln>
        </p:spPr>
      </p:sp>
      <p:sp>
        <p:nvSpPr>
          <p:cNvPr id="4" name="Shape 2"/>
          <p:cNvSpPr/>
          <p:nvPr/>
        </p:nvSpPr>
        <p:spPr>
          <a:xfrm>
            <a:off x="777240" y="1554480"/>
            <a:ext cx="548640" cy="54864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Text 3"/>
          <p:cNvSpPr txBox="1"/>
          <p:nvPr/>
        </p:nvSpPr>
        <p:spPr>
          <a:xfrm>
            <a:off x="1508760" y="1527048"/>
            <a:ext cx="4297680" cy="365760"/>
          </a:xfrm>
          <a:prstGeom prst="rect">
            <a:avLst/>
          </a:prstGeom>
          <a:noFill/>
          <a:ln/>
        </p:spPr>
        <p:txBody>
          <a:bodyPr wrap="square" lIns="0" tIns="0" rIns="0" bIns="0" rtlCol="0" anchor="t"/>
          <a:lstStyle/>
          <a:p>
            <a:pPr indent="0" marL="0">
              <a:buNone/>
            </a:pPr>
            <a:r>
              <a:rPr lang="en-US" sz="1600" b="1" dirty="0">
                <a:solidFill>
                  <a:schemeClr val="tx1"/>
                </a:solidFill>
              </a:rPr>
              <a:t>Rights checked in the browser</a:t>
            </a:r>
            <a:endParaRPr lang="en-US" sz="1600" dirty="0"/>
          </a:p>
        </p:txBody>
      </p:sp>
      <p:sp>
        <p:nvSpPr>
          <p:cNvPr id="7" name="Text 4"/>
          <p:cNvSpPr txBox="1"/>
          <p:nvPr/>
        </p:nvSpPr>
        <p:spPr>
          <a:xfrm>
            <a:off x="1508760" y="192024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Roles, cost hiding, location and approval limits are UI-side until Blocks confirms row and field policies (spec 0003).</a:t>
            </a:r>
            <a:endParaRPr lang="en-US" sz="1300" dirty="0"/>
          </a:p>
        </p:txBody>
      </p:sp>
      <p:sp>
        <p:nvSpPr>
          <p:cNvPr id="8" name="limit-1"/>
          <p:cNvSpPr/>
          <p:nvPr/>
        </p:nvSpPr>
        <p:spPr>
          <a:xfrm>
            <a:off x="6172200" y="132588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54480"/>
            <a:ext cx="548640" cy="548640"/>
          </a:xfrm>
          <a:prstGeom prst="ellipse">
            <a:avLst/>
          </a:prstGeom>
          <a:solidFill>
            <a:schemeClr val="accent4"/>
          </a:solidFill>
          <a:ln w="12700">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6537960" y="1691640"/>
            <a:ext cx="274320" cy="274320"/>
          </a:xfrm>
          <a:prstGeom prst="rect">
            <a:avLst/>
          </a:prstGeom>
        </p:spPr>
      </p:pic>
      <p:sp>
        <p:nvSpPr>
          <p:cNvPr id="11" name="Text 7"/>
          <p:cNvSpPr txBox="1"/>
          <p:nvPr/>
        </p:nvSpPr>
        <p:spPr>
          <a:xfrm>
            <a:off x="7132320" y="1527048"/>
            <a:ext cx="4297680" cy="365760"/>
          </a:xfrm>
          <a:prstGeom prst="rect">
            <a:avLst/>
          </a:prstGeom>
          <a:noFill/>
          <a:ln/>
        </p:spPr>
        <p:txBody>
          <a:bodyPr wrap="square" lIns="0" tIns="0" rIns="0" bIns="0" rtlCol="0" anchor="t"/>
          <a:lstStyle/>
          <a:p>
            <a:pPr indent="0" marL="0">
              <a:buNone/>
            </a:pPr>
            <a:r>
              <a:rPr lang="en-US" sz="1600" b="1" dirty="0">
                <a:solidFill>
                  <a:schemeClr val="tx1"/>
                </a:solidFill>
              </a:rPr>
              <a:t>Company isolation not yet proven</a:t>
            </a:r>
            <a:endParaRPr lang="en-US" sz="1600" dirty="0"/>
          </a:p>
        </p:txBody>
      </p:sp>
      <p:sp>
        <p:nvSpPr>
          <p:cNvPr id="12" name="Text 8"/>
          <p:cNvSpPr txBox="1"/>
          <p:nvPr/>
        </p:nvSpPr>
        <p:spPr>
          <a:xfrm>
            <a:off x="7132320" y="192024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Every record carries OrganizationId; the live check waits for a second test organization.</a:t>
            </a:r>
            <a:endParaRPr lang="en-US" sz="1300" dirty="0"/>
          </a:p>
        </p:txBody>
      </p:sp>
      <p:sp>
        <p:nvSpPr>
          <p:cNvPr id="13" name="limit-2"/>
          <p:cNvSpPr/>
          <p:nvPr/>
        </p:nvSpPr>
        <p:spPr>
          <a:xfrm>
            <a:off x="548640" y="2971800"/>
            <a:ext cx="5440680" cy="1463040"/>
          </a:xfrm>
          <a:prstGeom prst="roundRect">
            <a:avLst>
              <a:gd name="adj" fmla="val 7500"/>
            </a:avLst>
          </a:prstGeom>
          <a:solidFill>
            <a:schemeClr val="bg2"/>
          </a:solidFill>
          <a:ln w="12700">
            <a:solidFill>
              <a:schemeClr val="bg2"/>
            </a:solidFill>
            <a:prstDash val="solid"/>
          </a:ln>
        </p:spPr>
      </p:sp>
      <p:sp>
        <p:nvSpPr>
          <p:cNvPr id="14" name="Shape 10"/>
          <p:cNvSpPr/>
          <p:nvPr/>
        </p:nvSpPr>
        <p:spPr>
          <a:xfrm>
            <a:off x="777240" y="3200400"/>
            <a:ext cx="548640" cy="54864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914400" y="3337560"/>
            <a:ext cx="274320" cy="274320"/>
          </a:xfrm>
          <a:prstGeom prst="rect">
            <a:avLst/>
          </a:prstGeom>
        </p:spPr>
      </p:pic>
      <p:sp>
        <p:nvSpPr>
          <p:cNvPr id="16" name="Text 11"/>
          <p:cNvSpPr txBox="1"/>
          <p:nvPr/>
        </p:nvSpPr>
        <p:spPr>
          <a:xfrm>
            <a:off x="1508760" y="3172968"/>
            <a:ext cx="4297680" cy="365760"/>
          </a:xfrm>
          <a:prstGeom prst="rect">
            <a:avLst/>
          </a:prstGeom>
          <a:noFill/>
          <a:ln/>
        </p:spPr>
        <p:txBody>
          <a:bodyPr wrap="square" lIns="0" tIns="0" rIns="0" bIns="0" rtlCol="0" anchor="t"/>
          <a:lstStyle/>
          <a:p>
            <a:pPr indent="0" marL="0">
              <a:buNone/>
            </a:pPr>
            <a:r>
              <a:rPr lang="en-US" sz="1600" b="1" dirty="0">
                <a:solidFill>
                  <a:schemeClr val="tx1"/>
                </a:solidFill>
              </a:rPr>
              <a:t>No background reports</a:t>
            </a:r>
            <a:endParaRPr lang="en-US" sz="1600" dirty="0"/>
          </a:p>
        </p:txBody>
      </p:sp>
      <p:sp>
        <p:nvSpPr>
          <p:cNvPr id="17" name="Text 12"/>
          <p:cNvSpPr txBox="1"/>
          <p:nvPr/>
        </p:nvSpPr>
        <p:spPr>
          <a:xfrm>
            <a:off x="1508760" y="356616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Blocks workflows can't sign in, so 'Run in the background' was removed. CSV and Print remain (spec 0015, 0027).</a:t>
            </a:r>
            <a:endParaRPr lang="en-US" sz="1300" dirty="0"/>
          </a:p>
        </p:txBody>
      </p:sp>
      <p:sp>
        <p:nvSpPr>
          <p:cNvPr id="18" name="limit-3"/>
          <p:cNvSpPr/>
          <p:nvPr/>
        </p:nvSpPr>
        <p:spPr>
          <a:xfrm>
            <a:off x="6172200" y="2971800"/>
            <a:ext cx="5440680" cy="1463040"/>
          </a:xfrm>
          <a:prstGeom prst="roundRect">
            <a:avLst>
              <a:gd name="adj" fmla="val 7500"/>
            </a:avLst>
          </a:prstGeom>
          <a:solidFill>
            <a:schemeClr val="bg2"/>
          </a:solidFill>
          <a:ln w="12700">
            <a:solidFill>
              <a:schemeClr val="bg2"/>
            </a:solidFill>
            <a:prstDash val="solid"/>
          </a:ln>
        </p:spPr>
      </p:sp>
      <p:sp>
        <p:nvSpPr>
          <p:cNvPr id="19" name="Shape 14"/>
          <p:cNvSpPr/>
          <p:nvPr/>
        </p:nvSpPr>
        <p:spPr>
          <a:xfrm>
            <a:off x="6400800" y="3200400"/>
            <a:ext cx="548640" cy="548640"/>
          </a:xfrm>
          <a:prstGeom prst="ellipse">
            <a:avLst/>
          </a:prstGeom>
          <a:solidFill>
            <a:schemeClr val="accent4"/>
          </a:solidFill>
          <a:ln w="12700">
            <a:solidFill>
              <a:schemeClr val="accent4"/>
            </a:solidFill>
            <a:prstDash val="solid"/>
          </a:ln>
        </p:spPr>
      </p:sp>
      <p:pic>
        <p:nvPicPr>
          <p:cNvPr id="20" name="Image 3" descr="preencoded.png">    </p:cNvPr>
          <p:cNvPicPr>
            <a:picLocks noChangeAspect="1"/>
          </p:cNvPicPr>
          <p:nvPr/>
        </p:nvPicPr>
        <p:blipFill>
          <a:blip r:embed="rId4"/>
          <a:stretch>
            <a:fillRect/>
          </a:stretch>
        </p:blipFill>
        <p:spPr>
          <a:xfrm>
            <a:off x="6537960" y="3337560"/>
            <a:ext cx="274320" cy="274320"/>
          </a:xfrm>
          <a:prstGeom prst="rect">
            <a:avLst/>
          </a:prstGeom>
        </p:spPr>
      </p:pic>
      <p:sp>
        <p:nvSpPr>
          <p:cNvPr id="21" name="Text 15"/>
          <p:cNvSpPr txBox="1"/>
          <p:nvPr/>
        </p:nvSpPr>
        <p:spPr>
          <a:xfrm>
            <a:off x="7132320" y="3172968"/>
            <a:ext cx="4297680" cy="365760"/>
          </a:xfrm>
          <a:prstGeom prst="rect">
            <a:avLst/>
          </a:prstGeom>
          <a:noFill/>
          <a:ln/>
        </p:spPr>
        <p:txBody>
          <a:bodyPr wrap="square" lIns="0" tIns="0" rIns="0" bIns="0" rtlCol="0" anchor="t"/>
          <a:lstStyle/>
          <a:p>
            <a:pPr indent="0" marL="0">
              <a:buNone/>
            </a:pPr>
            <a:r>
              <a:rPr lang="en-US" sz="1600" b="1" dirty="0">
                <a:solidFill>
                  <a:schemeClr val="tx1"/>
                </a:solidFill>
              </a:rPr>
              <a:t>Daily jobs run on first sign-in</a:t>
            </a:r>
            <a:endParaRPr lang="en-US" sz="1600" dirty="0"/>
          </a:p>
        </p:txBody>
      </p:sp>
      <p:sp>
        <p:nvSpPr>
          <p:cNvPr id="22" name="Text 16"/>
          <p:cNvSpPr txBox="1"/>
          <p:nvPr/>
        </p:nvSpPr>
        <p:spPr>
          <a:xfrm>
            <a:off x="7132320" y="356616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The reorder check runs once a day when the first person signs in, not on a server schedule.</a:t>
            </a:r>
            <a:endParaRPr lang="en-US" sz="1300" dirty="0"/>
          </a:p>
        </p:txBody>
      </p:sp>
      <p:sp>
        <p:nvSpPr>
          <p:cNvPr id="23" name="limit-4"/>
          <p:cNvSpPr/>
          <p:nvPr/>
        </p:nvSpPr>
        <p:spPr>
          <a:xfrm>
            <a:off x="548640" y="4617720"/>
            <a:ext cx="5440680" cy="1463040"/>
          </a:xfrm>
          <a:prstGeom prst="roundRect">
            <a:avLst>
              <a:gd name="adj" fmla="val 7500"/>
            </a:avLst>
          </a:prstGeom>
          <a:solidFill>
            <a:schemeClr val="bg2"/>
          </a:solidFill>
          <a:ln w="12700">
            <a:solidFill>
              <a:schemeClr val="bg2"/>
            </a:solidFill>
            <a:prstDash val="solid"/>
          </a:ln>
        </p:spPr>
      </p:sp>
      <p:sp>
        <p:nvSpPr>
          <p:cNvPr id="24" name="Shape 18"/>
          <p:cNvSpPr/>
          <p:nvPr/>
        </p:nvSpPr>
        <p:spPr>
          <a:xfrm>
            <a:off x="777240" y="4846320"/>
            <a:ext cx="548640" cy="548640"/>
          </a:xfrm>
          <a:prstGeom prst="ellipse">
            <a:avLst/>
          </a:prstGeom>
          <a:solidFill>
            <a:schemeClr val="accent4"/>
          </a:solidFill>
          <a:ln w="12700">
            <a:solidFill>
              <a:schemeClr val="accent4"/>
            </a:solidFill>
            <a:prstDash val="solid"/>
          </a:ln>
        </p:spPr>
      </p:sp>
      <p:pic>
        <p:nvPicPr>
          <p:cNvPr id="25" name="Image 4" descr="preencoded.png">    </p:cNvPr>
          <p:cNvPicPr>
            <a:picLocks noChangeAspect="1"/>
          </p:cNvPicPr>
          <p:nvPr/>
        </p:nvPicPr>
        <p:blipFill>
          <a:blip r:embed="rId5"/>
          <a:stretch>
            <a:fillRect/>
          </a:stretch>
        </p:blipFill>
        <p:spPr>
          <a:xfrm>
            <a:off x="914400" y="4983480"/>
            <a:ext cx="274320" cy="274320"/>
          </a:xfrm>
          <a:prstGeom prst="rect">
            <a:avLst/>
          </a:prstGeom>
        </p:spPr>
      </p:pic>
      <p:sp>
        <p:nvSpPr>
          <p:cNvPr id="26" name="Text 19"/>
          <p:cNvSpPr txBox="1"/>
          <p:nvPr/>
        </p:nvSpPr>
        <p:spPr>
          <a:xfrm>
            <a:off x="1508760" y="4818888"/>
            <a:ext cx="4297680" cy="365760"/>
          </a:xfrm>
          <a:prstGeom prst="rect">
            <a:avLst/>
          </a:prstGeom>
          <a:noFill/>
          <a:ln/>
        </p:spPr>
        <p:txBody>
          <a:bodyPr wrap="square" lIns="0" tIns="0" rIns="0" bIns="0" rtlCol="0" anchor="t"/>
          <a:lstStyle/>
          <a:p>
            <a:pPr indent="0" marL="0">
              <a:buNone/>
            </a:pPr>
            <a:r>
              <a:rPr lang="en-US" sz="1600" b="1" dirty="0">
                <a:solidFill>
                  <a:schemeClr val="tx1"/>
                </a:solidFill>
              </a:rPr>
              <a:t>Report size cap</a:t>
            </a:r>
            <a:endParaRPr lang="en-US" sz="1600" dirty="0"/>
          </a:p>
        </p:txBody>
      </p:sp>
      <p:sp>
        <p:nvSpPr>
          <p:cNvPr id="27" name="Text 20"/>
          <p:cNvSpPr txBox="1"/>
          <p:nvPr/>
        </p:nvSpPr>
        <p:spPr>
          <a:xfrm>
            <a:off x="1508760" y="521208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Reports cap silently near 49,000 rows; ratio columns add up in grouped rows. Known follow-ups.</a:t>
            </a:r>
            <a:endParaRPr lang="en-US" sz="1300" dirty="0"/>
          </a:p>
        </p:txBody>
      </p:sp>
      <p:sp>
        <p:nvSpPr>
          <p:cNvPr id="28" name="limit-5"/>
          <p:cNvSpPr/>
          <p:nvPr/>
        </p:nvSpPr>
        <p:spPr>
          <a:xfrm>
            <a:off x="6172200" y="4617720"/>
            <a:ext cx="5440680" cy="1463040"/>
          </a:xfrm>
          <a:prstGeom prst="roundRect">
            <a:avLst>
              <a:gd name="adj" fmla="val 7500"/>
            </a:avLst>
          </a:prstGeom>
          <a:solidFill>
            <a:schemeClr val="bg2"/>
          </a:solidFill>
          <a:ln w="12700">
            <a:solidFill>
              <a:schemeClr val="bg2"/>
            </a:solidFill>
            <a:prstDash val="solid"/>
          </a:ln>
        </p:spPr>
      </p:sp>
      <p:sp>
        <p:nvSpPr>
          <p:cNvPr id="29" name="Shape 22"/>
          <p:cNvSpPr/>
          <p:nvPr/>
        </p:nvSpPr>
        <p:spPr>
          <a:xfrm>
            <a:off x="6400800" y="4846320"/>
            <a:ext cx="548640" cy="548640"/>
          </a:xfrm>
          <a:prstGeom prst="ellipse">
            <a:avLst/>
          </a:prstGeom>
          <a:solidFill>
            <a:schemeClr val="accent4"/>
          </a:solidFill>
          <a:ln w="12700">
            <a:solidFill>
              <a:schemeClr val="accent4"/>
            </a:solidFill>
            <a:prstDash val="solid"/>
          </a:ln>
        </p:spPr>
      </p:sp>
      <p:pic>
        <p:nvPicPr>
          <p:cNvPr id="30" name="Image 5" descr="preencoded.png">    </p:cNvPr>
          <p:cNvPicPr>
            <a:picLocks noChangeAspect="1"/>
          </p:cNvPicPr>
          <p:nvPr/>
        </p:nvPicPr>
        <p:blipFill>
          <a:blip r:embed="rId6"/>
          <a:stretch>
            <a:fillRect/>
          </a:stretch>
        </p:blipFill>
        <p:spPr>
          <a:xfrm>
            <a:off x="6537960" y="4983480"/>
            <a:ext cx="274320" cy="274320"/>
          </a:xfrm>
          <a:prstGeom prst="rect">
            <a:avLst/>
          </a:prstGeom>
        </p:spPr>
      </p:pic>
      <p:sp>
        <p:nvSpPr>
          <p:cNvPr id="31" name="Text 23"/>
          <p:cNvSpPr txBox="1"/>
          <p:nvPr/>
        </p:nvSpPr>
        <p:spPr>
          <a:xfrm>
            <a:off x="7132320" y="4818888"/>
            <a:ext cx="4297680" cy="365760"/>
          </a:xfrm>
          <a:prstGeom prst="rect">
            <a:avLst/>
          </a:prstGeom>
          <a:noFill/>
          <a:ln/>
        </p:spPr>
        <p:txBody>
          <a:bodyPr wrap="square" lIns="0" tIns="0" rIns="0" bIns="0" rtlCol="0" anchor="t"/>
          <a:lstStyle/>
          <a:p>
            <a:pPr indent="0" marL="0">
              <a:buNone/>
            </a:pPr>
            <a:r>
              <a:rPr lang="en-US" sz="1600" b="1" dirty="0">
                <a:solidFill>
                  <a:schemeClr val="tx1"/>
                </a:solidFill>
              </a:rPr>
              <a:t>Roadmap, not built</a:t>
            </a:r>
            <a:endParaRPr lang="en-US" sz="1600" dirty="0"/>
          </a:p>
        </p:txBody>
      </p:sp>
      <p:sp>
        <p:nvSpPr>
          <p:cNvPr id="32" name="Text 24"/>
          <p:cNvSpPr txBox="1"/>
          <p:nvPr/>
        </p:nvSpPr>
        <p:spPr>
          <a:xfrm>
            <a:off x="7132320" y="5212080"/>
            <a:ext cx="4297680" cy="777240"/>
          </a:xfrm>
          <a:prstGeom prst="rect">
            <a:avLst/>
          </a:prstGeom>
          <a:noFill/>
          <a:ln/>
        </p:spPr>
        <p:txBody>
          <a:bodyPr wrap="square" lIns="0" tIns="0" rIns="0" bIns="0" rtlCol="0" anchor="t"/>
          <a:lstStyle/>
          <a:p>
            <a:pPr indent="0" marL="0">
              <a:buNone/>
            </a:pPr>
            <a:r>
              <a:rPr lang="en-US" sz="1300" dirty="0">
                <a:solidFill>
                  <a:schemeClr val="accent5"/>
                </a:solidFill>
              </a:rPr>
              <a:t>Manufacturing, invoice PDFs and email, CSV import, API, scanning, B2B portal, mobile.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Likely questions</a:t>
            </a:r>
            <a:endParaRPr lang="en-US" sz="3600" dirty="0"/>
          </a:p>
        </p:txBody>
      </p:sp>
      <p:sp>
        <p:nvSpPr>
          <p:cNvPr id="3" name="Shape 1"/>
          <p:cNvSpPr/>
          <p:nvPr/>
        </p:nvSpPr>
        <p:spPr>
          <a:xfrm>
            <a:off x="548640" y="1508760"/>
            <a:ext cx="457200" cy="457200"/>
          </a:xfrm>
          <a:prstGeom prst="ellipse">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62940" y="1623060"/>
            <a:ext cx="228600" cy="228600"/>
          </a:xfrm>
          <a:prstGeom prst="rect">
            <a:avLst/>
          </a:prstGeom>
        </p:spPr>
      </p:pic>
      <p:sp>
        <p:nvSpPr>
          <p:cNvPr id="5" name="Text 2"/>
          <p:cNvSpPr txBox="1"/>
          <p:nvPr/>
        </p:nvSpPr>
        <p:spPr>
          <a:xfrm>
            <a:off x="1188720" y="146304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Why Blocks, not our own backend?</a:t>
            </a:r>
            <a:endParaRPr lang="en-US" sz="1600" dirty="0"/>
          </a:p>
        </p:txBody>
      </p:sp>
      <p:sp>
        <p:nvSpPr>
          <p:cNvPr id="6" name="Text 3"/>
          <p:cNvSpPr txBox="1"/>
          <p:nvPr/>
        </p:nvSpPr>
        <p:spPr>
          <a:xfrm>
            <a:off x="1188720" y="201168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Sign-in, MFA, roles, organizations, storage and mail come ready. We designed around no transactions.</a:t>
            </a:r>
            <a:endParaRPr lang="en-US" sz="1400" dirty="0"/>
          </a:p>
        </p:txBody>
      </p:sp>
      <p:sp>
        <p:nvSpPr>
          <p:cNvPr id="7" name="Shape 4"/>
          <p:cNvSpPr/>
          <p:nvPr/>
        </p:nvSpPr>
        <p:spPr>
          <a:xfrm>
            <a:off x="6172200" y="1508760"/>
            <a:ext cx="457200" cy="45720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6286500" y="1623060"/>
            <a:ext cx="228600" cy="228600"/>
          </a:xfrm>
          <a:prstGeom prst="rect">
            <a:avLst/>
          </a:prstGeom>
        </p:spPr>
      </p:pic>
      <p:sp>
        <p:nvSpPr>
          <p:cNvPr id="9" name="Text 5"/>
          <p:cNvSpPr txBox="1"/>
          <p:nvPr/>
        </p:nvSpPr>
        <p:spPr>
          <a:xfrm>
            <a:off x="6812280" y="146304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How do two people not sell the last unit?</a:t>
            </a:r>
            <a:endParaRPr lang="en-US" sz="1600" dirty="0"/>
          </a:p>
        </p:txBody>
      </p:sp>
      <p:sp>
        <p:nvSpPr>
          <p:cNvPr id="10" name="Text 6"/>
          <p:cNvSpPr txBox="1"/>
          <p:nvPr/>
        </p:nvSpPr>
        <p:spPr>
          <a:xfrm>
            <a:off x="6812280" y="201168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Compare and set on the balance version, plus a unique posting key per line. Proven by a race test.</a:t>
            </a:r>
            <a:endParaRPr lang="en-US" sz="1400" dirty="0"/>
          </a:p>
        </p:txBody>
      </p:sp>
      <p:sp>
        <p:nvSpPr>
          <p:cNvPr id="11" name="Shape 7"/>
          <p:cNvSpPr/>
          <p:nvPr/>
        </p:nvSpPr>
        <p:spPr>
          <a:xfrm>
            <a:off x="548640" y="3200400"/>
            <a:ext cx="457200" cy="457200"/>
          </a:xfrm>
          <a:prstGeom prst="ellipse">
            <a:avLst/>
          </a:prstGeom>
          <a:solidFill>
            <a:schemeClr val="accent2"/>
          </a:solidFill>
          <a:ln w="12700">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662940" y="3314700"/>
            <a:ext cx="228600" cy="228600"/>
          </a:xfrm>
          <a:prstGeom prst="rect">
            <a:avLst/>
          </a:prstGeom>
        </p:spPr>
      </p:pic>
      <p:sp>
        <p:nvSpPr>
          <p:cNvPr id="13" name="Text 8"/>
          <p:cNvSpPr txBox="1"/>
          <p:nvPr/>
        </p:nvSpPr>
        <p:spPr>
          <a:xfrm>
            <a:off x="1188720" y="315468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Can a store see only its own stock?</a:t>
            </a:r>
            <a:endParaRPr lang="en-US" sz="1600" dirty="0"/>
          </a:p>
        </p:txBody>
      </p:sp>
      <p:sp>
        <p:nvSpPr>
          <p:cNvPr id="14" name="Text 9"/>
          <p:cNvSpPr txBox="1"/>
          <p:nvPr/>
        </p:nvSpPr>
        <p:spPr>
          <a:xfrm>
            <a:off x="1188720" y="370332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Yes: allowed locations per person. Transfers show if either end is allowed.</a:t>
            </a:r>
            <a:endParaRPr lang="en-US" sz="1400" dirty="0"/>
          </a:p>
        </p:txBody>
      </p:sp>
      <p:sp>
        <p:nvSpPr>
          <p:cNvPr id="15" name="Shape 10"/>
          <p:cNvSpPr/>
          <p:nvPr/>
        </p:nvSpPr>
        <p:spPr>
          <a:xfrm>
            <a:off x="6172200" y="3200400"/>
            <a:ext cx="457200" cy="457200"/>
          </a:xfrm>
          <a:prstGeom prst="ellipse">
            <a:avLst/>
          </a:prstGeom>
          <a:solidFill>
            <a:schemeClr val="accent2"/>
          </a:solidFill>
          <a:ln w="12700">
            <a:solidFill>
              <a:schemeClr val="accent2"/>
            </a:solidFill>
            <a:prstDash val="solid"/>
          </a:ln>
        </p:spPr>
      </p:sp>
      <p:pic>
        <p:nvPicPr>
          <p:cNvPr id="16" name="Image 3" descr="preencoded.png">    </p:cNvPr>
          <p:cNvPicPr>
            <a:picLocks noChangeAspect="1"/>
          </p:cNvPicPr>
          <p:nvPr/>
        </p:nvPicPr>
        <p:blipFill>
          <a:blip r:embed="rId4"/>
          <a:stretch>
            <a:fillRect/>
          </a:stretch>
        </p:blipFill>
        <p:spPr>
          <a:xfrm>
            <a:off x="6286500" y="3314700"/>
            <a:ext cx="228600" cy="228600"/>
          </a:xfrm>
          <a:prstGeom prst="rect">
            <a:avLst/>
          </a:prstGeom>
        </p:spPr>
      </p:pic>
      <p:sp>
        <p:nvSpPr>
          <p:cNvPr id="17" name="Text 11"/>
          <p:cNvSpPr txBox="1"/>
          <p:nvPr/>
        </p:nvSpPr>
        <p:spPr>
          <a:xfrm>
            <a:off x="6812280" y="315468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How are big purchases controlled?</a:t>
            </a:r>
            <a:endParaRPr lang="en-US" sz="1600" dirty="0"/>
          </a:p>
        </p:txBody>
      </p:sp>
      <p:sp>
        <p:nvSpPr>
          <p:cNvPr id="18" name="Text 12"/>
          <p:cNvSpPr txBox="1"/>
          <p:nvPr/>
        </p:nvSpPr>
        <p:spPr>
          <a:xfrm>
            <a:off x="6812280" y="370332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Personal PO approval limit in home currency. Above it, the PO waits.</a:t>
            </a:r>
            <a:endParaRPr lang="en-US" sz="1400" dirty="0"/>
          </a:p>
        </p:txBody>
      </p:sp>
      <p:sp>
        <p:nvSpPr>
          <p:cNvPr id="19" name="Shape 13"/>
          <p:cNvSpPr/>
          <p:nvPr/>
        </p:nvSpPr>
        <p:spPr>
          <a:xfrm>
            <a:off x="548640" y="4892040"/>
            <a:ext cx="457200" cy="457200"/>
          </a:xfrm>
          <a:prstGeom prst="ellipse">
            <a:avLst/>
          </a:prstGeom>
          <a:solidFill>
            <a:schemeClr val="accent2"/>
          </a:solidFill>
          <a:ln w="12700">
            <a:solidFill>
              <a:schemeClr val="accent2"/>
            </a:solidFill>
            <a:prstDash val="solid"/>
          </a:ln>
        </p:spPr>
      </p:sp>
      <p:pic>
        <p:nvPicPr>
          <p:cNvPr id="20" name="Image 4" descr="preencoded.png">    </p:cNvPr>
          <p:cNvPicPr>
            <a:picLocks noChangeAspect="1"/>
          </p:cNvPicPr>
          <p:nvPr/>
        </p:nvPicPr>
        <p:blipFill>
          <a:blip r:embed="rId5"/>
          <a:stretch>
            <a:fillRect/>
          </a:stretch>
        </p:blipFill>
        <p:spPr>
          <a:xfrm>
            <a:off x="662940" y="5006340"/>
            <a:ext cx="228600" cy="228600"/>
          </a:xfrm>
          <a:prstGeom prst="rect">
            <a:avLst/>
          </a:prstGeom>
        </p:spPr>
      </p:pic>
      <p:sp>
        <p:nvSpPr>
          <p:cNvPr id="21" name="Text 14"/>
          <p:cNvSpPr txBox="1"/>
          <p:nvPr/>
        </p:nvSpPr>
        <p:spPr>
          <a:xfrm>
            <a:off x="1188720" y="484632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Lots, expiry, serials?</a:t>
            </a:r>
            <a:endParaRPr lang="en-US" sz="1600" dirty="0"/>
          </a:p>
        </p:txBody>
      </p:sp>
      <p:sp>
        <p:nvSpPr>
          <p:cNvPr id="22" name="Text 15"/>
          <p:cNvSpPr txBox="1"/>
          <p:nvPr/>
        </p:nvSpPr>
        <p:spPr>
          <a:xfrm>
            <a:off x="1188720" y="539496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Yes. Expired lots are never auto-picked; trace a lot to customers or back to its PO.</a:t>
            </a:r>
            <a:endParaRPr lang="en-US" sz="1400" dirty="0"/>
          </a:p>
        </p:txBody>
      </p:sp>
      <p:sp>
        <p:nvSpPr>
          <p:cNvPr id="23" name="Shape 16"/>
          <p:cNvSpPr/>
          <p:nvPr/>
        </p:nvSpPr>
        <p:spPr>
          <a:xfrm>
            <a:off x="6172200" y="4892040"/>
            <a:ext cx="457200" cy="457200"/>
          </a:xfrm>
          <a:prstGeom prst="ellipse">
            <a:avLst/>
          </a:prstGeom>
          <a:solidFill>
            <a:schemeClr val="accent2"/>
          </a:solidFill>
          <a:ln w="12700">
            <a:solidFill>
              <a:schemeClr val="accent2"/>
            </a:solidFill>
            <a:prstDash val="solid"/>
          </a:ln>
        </p:spPr>
      </p:sp>
      <p:pic>
        <p:nvPicPr>
          <p:cNvPr id="24" name="Image 5" descr="preencoded.png">    </p:cNvPr>
          <p:cNvPicPr>
            <a:picLocks noChangeAspect="1"/>
          </p:cNvPicPr>
          <p:nvPr/>
        </p:nvPicPr>
        <p:blipFill>
          <a:blip r:embed="rId6"/>
          <a:stretch>
            <a:fillRect/>
          </a:stretch>
        </p:blipFill>
        <p:spPr>
          <a:xfrm>
            <a:off x="6286500" y="5006340"/>
            <a:ext cx="228600" cy="228600"/>
          </a:xfrm>
          <a:prstGeom prst="rect">
            <a:avLst/>
          </a:prstGeom>
        </p:spPr>
      </p:pic>
      <p:sp>
        <p:nvSpPr>
          <p:cNvPr id="25" name="Text 17"/>
          <p:cNvSpPr txBox="1"/>
          <p:nvPr/>
        </p:nvSpPr>
        <p:spPr>
          <a:xfrm>
            <a:off x="6812280" y="484632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Custom roles?</a:t>
            </a:r>
            <a:endParaRPr lang="en-US" sz="1600" dirty="0"/>
          </a:p>
        </p:txBody>
      </p:sp>
      <p:sp>
        <p:nvSpPr>
          <p:cNvPr id="26" name="Text 18"/>
          <p:cNvSpPr txBox="1"/>
          <p:nvPr/>
        </p:nvSpPr>
        <p:spPr>
          <a:xfrm>
            <a:off x="6812280" y="5394960"/>
            <a:ext cx="4754880" cy="822960"/>
          </a:xfrm>
          <a:prstGeom prst="rect">
            <a:avLst/>
          </a:prstGeom>
          <a:noFill/>
          <a:ln/>
        </p:spPr>
        <p:txBody>
          <a:bodyPr wrap="square" lIns="0" tIns="0" rIns="0" bIns="0" rtlCol="0" anchor="t"/>
          <a:lstStyle/>
          <a:p>
            <a:pPr indent="0" marL="0">
              <a:buNone/>
            </a:pPr>
            <a:r>
              <a:rPr lang="en-US" sz="1400" dirty="0">
                <a:solidFill>
                  <a:schemeClr val="accent5"/>
                </a:solidFill>
              </a:rPr>
              <a:t>Not yet. Seven fixed bundles until rights move to server permissions.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Questions?</a:t>
            </a: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One ledger · seven roles · the full buy-to-paid cycle on SELISE Blocks</a:t>
            </a:r>
            <a:endParaRPr lang="en-US" sz="2000" dirty="0"/>
          </a:p>
        </p:txBody>
      </p:sp>
      <p:sp>
        <p:nvSpPr>
          <p:cNvPr id="4" name="Shape 2"/>
          <p:cNvSpPr/>
          <p:nvPr/>
        </p:nvSpPr>
        <p:spPr>
          <a:xfrm>
            <a:off x="731520" y="4937760"/>
            <a:ext cx="685800" cy="68580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02970" y="5109210"/>
            <a:ext cx="342900" cy="342900"/>
          </a:xfrm>
          <a:prstGeom prst="rect">
            <a:avLst/>
          </a:prstGeom>
        </p:spPr>
      </p:pic>
      <p:sp>
        <p:nvSpPr>
          <p:cNvPr id="6" name="Text 3"/>
          <p:cNvSpPr txBox="1"/>
          <p:nvPr/>
        </p:nvSpPr>
        <p:spPr>
          <a:xfrm>
            <a:off x="1600200" y="4937760"/>
            <a:ext cx="2651760" cy="365760"/>
          </a:xfrm>
          <a:prstGeom prst="rect">
            <a:avLst/>
          </a:prstGeom>
          <a:noFill/>
          <a:ln/>
        </p:spPr>
        <p:txBody>
          <a:bodyPr wrap="square" lIns="0" tIns="0" rIns="0" bIns="0" rtlCol="0" anchor="t"/>
          <a:lstStyle/>
          <a:p>
            <a:pPr indent="0" marL="0">
              <a:buNone/>
            </a:pPr>
            <a:r>
              <a:rPr lang="en-US" sz="1800" b="1" dirty="0">
                <a:solidFill>
                  <a:schemeClr val="bg1"/>
                </a:solidFill>
              </a:rPr>
              <a:t>One ledger</a:t>
            </a:r>
            <a:endParaRPr lang="en-US" sz="1800" dirty="0"/>
          </a:p>
        </p:txBody>
      </p:sp>
      <p:sp>
        <p:nvSpPr>
          <p:cNvPr id="7" name="Text 4"/>
          <p:cNvSpPr txBox="1"/>
          <p:nvPr/>
        </p:nvSpPr>
        <p:spPr>
          <a:xfrm>
            <a:off x="1600200" y="5303520"/>
            <a:ext cx="2651760" cy="365760"/>
          </a:xfrm>
          <a:prstGeom prst="rect">
            <a:avLst/>
          </a:prstGeom>
          <a:noFill/>
          <a:ln/>
        </p:spPr>
        <p:txBody>
          <a:bodyPr wrap="square" lIns="0" tIns="0" rIns="0" bIns="0" rtlCol="0" anchor="t"/>
          <a:lstStyle/>
          <a:p>
            <a:pPr indent="0" marL="0">
              <a:buNone/>
            </a:pPr>
            <a:r>
              <a:rPr lang="en-US" sz="1400" dirty="0">
                <a:solidFill>
                  <a:schemeClr val="accent6"/>
                </a:solidFill>
              </a:rPr>
              <a:t>Every stock change is a movement</a:t>
            </a:r>
            <a:endParaRPr lang="en-US" sz="1400" dirty="0"/>
          </a:p>
        </p:txBody>
      </p:sp>
      <p:sp>
        <p:nvSpPr>
          <p:cNvPr id="8" name="Shape 5"/>
          <p:cNvSpPr/>
          <p:nvPr/>
        </p:nvSpPr>
        <p:spPr>
          <a:xfrm>
            <a:off x="4389120" y="4937760"/>
            <a:ext cx="685800" cy="68580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4560570" y="5109210"/>
            <a:ext cx="342900" cy="342900"/>
          </a:xfrm>
          <a:prstGeom prst="rect">
            <a:avLst/>
          </a:prstGeom>
        </p:spPr>
      </p:pic>
      <p:sp>
        <p:nvSpPr>
          <p:cNvPr id="10" name="Text 6"/>
          <p:cNvSpPr txBox="1"/>
          <p:nvPr/>
        </p:nvSpPr>
        <p:spPr>
          <a:xfrm>
            <a:off x="5257800" y="4937760"/>
            <a:ext cx="2651760" cy="365760"/>
          </a:xfrm>
          <a:prstGeom prst="rect">
            <a:avLst/>
          </a:prstGeom>
          <a:noFill/>
          <a:ln/>
        </p:spPr>
        <p:txBody>
          <a:bodyPr wrap="square" lIns="0" tIns="0" rIns="0" bIns="0" rtlCol="0" anchor="t"/>
          <a:lstStyle/>
          <a:p>
            <a:pPr indent="0" marL="0">
              <a:buNone/>
            </a:pPr>
            <a:r>
              <a:rPr lang="en-US" sz="1800" b="1" dirty="0">
                <a:solidFill>
                  <a:schemeClr val="bg1"/>
                </a:solidFill>
              </a:rPr>
              <a:t>Safe posting</a:t>
            </a:r>
            <a:endParaRPr lang="en-US" sz="1800" dirty="0"/>
          </a:p>
        </p:txBody>
      </p:sp>
      <p:sp>
        <p:nvSpPr>
          <p:cNvPr id="11" name="Text 7"/>
          <p:cNvSpPr txBox="1"/>
          <p:nvPr/>
        </p:nvSpPr>
        <p:spPr>
          <a:xfrm>
            <a:off x="5257800" y="5303520"/>
            <a:ext cx="2651760" cy="365760"/>
          </a:xfrm>
          <a:prstGeom prst="rect">
            <a:avLst/>
          </a:prstGeom>
          <a:noFill/>
          <a:ln/>
        </p:spPr>
        <p:txBody>
          <a:bodyPr wrap="square" lIns="0" tIns="0" rIns="0" bIns="0" rtlCol="0" anchor="t"/>
          <a:lstStyle/>
          <a:p>
            <a:pPr indent="0" marL="0">
              <a:buNone/>
            </a:pPr>
            <a:r>
              <a:rPr lang="en-US" sz="1400" dirty="0">
                <a:solidFill>
                  <a:schemeClr val="accent6"/>
                </a:solidFill>
              </a:rPr>
              <a:t>Compare and set, no transactions</a:t>
            </a:r>
            <a:endParaRPr lang="en-US" sz="1400" dirty="0"/>
          </a:p>
        </p:txBody>
      </p:sp>
      <p:sp>
        <p:nvSpPr>
          <p:cNvPr id="12" name="Shape 8"/>
          <p:cNvSpPr/>
          <p:nvPr/>
        </p:nvSpPr>
        <p:spPr>
          <a:xfrm>
            <a:off x="8046720" y="4937760"/>
            <a:ext cx="685800" cy="68580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8218170" y="5109210"/>
            <a:ext cx="342900" cy="342900"/>
          </a:xfrm>
          <a:prstGeom prst="rect">
            <a:avLst/>
          </a:prstGeom>
        </p:spPr>
      </p:pic>
      <p:sp>
        <p:nvSpPr>
          <p:cNvPr id="14" name="Text 9"/>
          <p:cNvSpPr txBox="1"/>
          <p:nvPr/>
        </p:nvSpPr>
        <p:spPr>
          <a:xfrm>
            <a:off x="8915400" y="4937760"/>
            <a:ext cx="2651760" cy="365760"/>
          </a:xfrm>
          <a:prstGeom prst="rect">
            <a:avLst/>
          </a:prstGeom>
          <a:noFill/>
          <a:ln/>
        </p:spPr>
        <p:txBody>
          <a:bodyPr wrap="square" lIns="0" tIns="0" rIns="0" bIns="0" rtlCol="0" anchor="t"/>
          <a:lstStyle/>
          <a:p>
            <a:pPr indent="0" marL="0">
              <a:buNone/>
            </a:pPr>
            <a:r>
              <a:rPr lang="en-US" sz="1800" b="1" dirty="0">
                <a:solidFill>
                  <a:schemeClr val="bg1"/>
                </a:solidFill>
              </a:rPr>
              <a:t>Two statuses</a:t>
            </a:r>
            <a:endParaRPr lang="en-US" sz="1800" dirty="0"/>
          </a:p>
        </p:txBody>
      </p:sp>
      <p:sp>
        <p:nvSpPr>
          <p:cNvPr id="15" name="Text 10"/>
          <p:cNvSpPr txBox="1"/>
          <p:nvPr/>
        </p:nvSpPr>
        <p:spPr>
          <a:xfrm>
            <a:off x="8915400" y="5303520"/>
            <a:ext cx="2651760" cy="365760"/>
          </a:xfrm>
          <a:prstGeom prst="rect">
            <a:avLst/>
          </a:prstGeom>
          <a:noFill/>
          <a:ln/>
        </p:spPr>
        <p:txBody>
          <a:bodyPr wrap="square" lIns="0" tIns="0" rIns="0" bIns="0" rtlCol="0" anchor="t"/>
          <a:lstStyle/>
          <a:p>
            <a:pPr indent="0" marL="0">
              <a:buNone/>
            </a:pPr>
            <a:r>
              <a:rPr lang="en-US" sz="1400" dirty="0">
                <a:solidFill>
                  <a:schemeClr val="accent6"/>
                </a:solidFill>
              </a:rPr>
              <a:t>Shipped and paid move apart</a:t>
            </a:r>
            <a:endParaRPr lang="en-US" sz="1400" dirty="0"/>
          </a:p>
        </p:txBody>
      </p:sp>
    </p:spTree>
  </p:cSld>
  <p:clrMapOvr>
    <a:masterClrMapping/>
  </p:clrMapOvr>
</p:sld>
</file>

<file path=ppt/theme/theme1.xml><?xml version="1.0" encoding="utf-8"?>
<a:theme xmlns:a="http://schemas.openxmlformats.org/drawingml/2006/main" name="Stockroom Teal">
  <a:themeElements>
    <a:clrScheme name="Stockroom Teal">
      <a:dk1>
        <a:srgbClr val="1B2A2F"/>
      </a:dk1>
      <a:lt1>
        <a:srgbClr val="FFFFFF"/>
      </a:lt1>
      <a:dk2>
        <a:srgbClr val="0E4D4A"/>
      </a:dk2>
      <a:lt2>
        <a:srgbClr val="EAF3F1"/>
      </a:lt2>
      <a:accent1>
        <a:srgbClr val="0E4D4A"/>
      </a:accent1>
      <a:accent2>
        <a:srgbClr val="F2A33A"/>
      </a:accent2>
      <a:accent3>
        <a:srgbClr val="2E8B7A"/>
      </a:accent3>
      <a:accent4>
        <a:srgbClr val="C8473F"/>
      </a:accent4>
      <a:accent5>
        <a:srgbClr val="5F7175"/>
      </a:accent5>
      <a:accent6>
        <a:srgbClr val="BFE0D9"/>
      </a:accent6>
      <a:hlink>
        <a:srgbClr val="2E8B7A"/>
      </a:hlink>
      <a:folHlink>
        <a:srgbClr val="5F7175"/>
      </a:folHlink>
    </a:clrScheme>
    <a:fontScheme name="Stockroom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app demo</dc:title>
  <dc:subject>PptxGenJS Presentation</dc:subject>
  <dc:creator>noor-selise</dc:creator>
  <cp:lastModifiedBy>noor-selise</cp:lastModifiedBy>
  <cp:revision>1</cp:revision>
  <dcterms:created xsi:type="dcterms:W3CDTF">2026-10-28T19:37:47Z</dcterms:created>
  <dcterms:modified xsi:type="dcterms:W3CDTF">2026-10-28T19:37:47Z</dcterms:modified>
</cp:coreProperties>
</file>